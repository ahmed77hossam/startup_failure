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3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sldSz cx="12192000" cy="6858000"/>
  <p:notesSz cx="6858000" cy="12192000"/>
  <p:embeddedFontLst>
    <p:embeddedFont>
      <p:font typeface="Roboto" panose="02000000000000000000" pitchFamily="2" charset="0"/>
      <p:regular r:id="rId32"/>
    </p:embeddedFont>
    <p:embeddedFont>
      <p:font typeface="Roboto Bold" panose="02000000000000000000" charset="0"/>
      <p:regular r:id="rId33"/>
    </p:embeddedFont>
    <p:embeddedFont>
      <p:font typeface="Roboto Slab" pitchFamily="2" charset="0"/>
      <p:regular r:id="rId34"/>
    </p:embeddedFont>
    <p:embeddedFont>
      <p:font typeface="Roboto Slab Bold" charset="0"/>
      <p:regular r:id="rId35"/>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font" Target="fonts/font3.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2.fntdata"/><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1.fntdata"/><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4.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824060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3.jpe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3.jpe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5.jpe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6.jpe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7.jpe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EDF1F8"/>
          </a:solidFill>
          <a:ln/>
        </p:spPr>
        <p:txBody>
          <a:bodyPr/>
          <a:lstStyle/>
          <a:p>
            <a:endParaRPr lang="en-US"/>
          </a:p>
        </p:txBody>
      </p:sp>
      <p:sp>
        <p:nvSpPr>
          <p:cNvPr id="3" name="Shape 1"/>
          <p:cNvSpPr/>
          <p:nvPr/>
        </p:nvSpPr>
        <p:spPr>
          <a:xfrm>
            <a:off x="0" y="0"/>
            <a:ext cx="12191695" cy="6858000"/>
          </a:xfrm>
          <a:prstGeom prst="rect">
            <a:avLst/>
          </a:prstGeom>
          <a:solidFill>
            <a:srgbClr val="FBFCFE"/>
          </a:solidFill>
          <a:ln/>
        </p:spPr>
        <p:txBody>
          <a:bodyPr/>
          <a:lstStyle/>
          <a:p>
            <a:endParaRPr lang="en-US"/>
          </a:p>
        </p:txBody>
      </p:sp>
      <p:pic>
        <p:nvPicPr>
          <p:cNvPr id="4" name="Image 0" descr="preencoded.png"/>
          <p:cNvPicPr>
            <a:picLocks noChangeAspect="1"/>
          </p:cNvPicPr>
          <p:nvPr/>
        </p:nvPicPr>
        <p:blipFill>
          <a:blip r:embed="rId2"/>
          <a:stretch>
            <a:fillRect/>
          </a:stretch>
        </p:blipFill>
        <p:spPr>
          <a:xfrm>
            <a:off x="0" y="0"/>
            <a:ext cx="12191695" cy="6858000"/>
          </a:xfrm>
          <a:prstGeom prst="rect">
            <a:avLst/>
          </a:prstGeom>
        </p:spPr>
      </p:pic>
      <p:pic>
        <p:nvPicPr>
          <p:cNvPr id="5" name="Image 1" descr="preencoded.png">
            <a:hlinkClick r:id="rId3"/>
          </p:cNvPr>
          <p:cNvPicPr>
            <a:picLocks noChangeAspect="1"/>
          </p:cNvPicPr>
          <p:nvPr/>
        </p:nvPicPr>
        <p:blipFill>
          <a:blip r:embed="rId4"/>
          <a:stretch>
            <a:fillRect/>
          </a:stretch>
        </p:blipFill>
        <p:spPr>
          <a:xfrm>
            <a:off x="11076875" y="6558991"/>
            <a:ext cx="1071843" cy="256032"/>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master 2">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EDF1F8"/>
          </a:solidFill>
          <a:ln/>
        </p:spPr>
      </p:sp>
      <p:sp>
        <p:nvSpPr>
          <p:cNvPr id="3" name="Shape 1"/>
          <p:cNvSpPr/>
          <p:nvPr/>
        </p:nvSpPr>
        <p:spPr>
          <a:xfrm>
            <a:off x="0" y="0"/>
            <a:ext cx="12191695" cy="6858000"/>
          </a:xfrm>
          <a:prstGeom prst="rect">
            <a:avLst/>
          </a:prstGeom>
          <a:solidFill>
            <a:srgbClr val="F2F2F2"/>
          </a:solidFill>
          <a:ln/>
        </p:spPr>
      </p:sp>
      <p:pic>
        <p:nvPicPr>
          <p:cNvPr id="4" name="Image 0" descr="preencoded.png"/>
          <p:cNvPicPr>
            <a:picLocks noChangeAspect="1"/>
          </p:cNvPicPr>
          <p:nvPr/>
        </p:nvPicPr>
        <p:blipFill>
          <a:blip r:embed="rId2"/>
          <a:stretch>
            <a:fillRect/>
          </a:stretch>
        </p:blipFill>
        <p:spPr>
          <a:xfrm>
            <a:off x="0" y="0"/>
            <a:ext cx="12191695" cy="6858000"/>
          </a:xfrm>
          <a:prstGeom prst="rect">
            <a:avLst/>
          </a:prstGeom>
        </p:spPr>
      </p:pic>
      <p:sp>
        <p:nvSpPr>
          <p:cNvPr id="5" name="Shape 2"/>
          <p:cNvSpPr/>
          <p:nvPr/>
        </p:nvSpPr>
        <p:spPr>
          <a:xfrm>
            <a:off x="0" y="0"/>
            <a:ext cx="12191695" cy="6858000"/>
          </a:xfrm>
          <a:prstGeom prst="rect">
            <a:avLst/>
          </a:prstGeom>
          <a:solidFill>
            <a:srgbClr val="F2F2F2">
              <a:alpha val="10000"/>
            </a:srgbClr>
          </a:solidFill>
          <a:ln/>
        </p:spPr>
      </p:sp>
      <p:pic>
        <p:nvPicPr>
          <p:cNvPr id="6" name="Image 1" descr="preencoded.png">
            <a:hlinkClick r:id="rId3"/>
          </p:cNvPr>
          <p:cNvPicPr>
            <a:picLocks noChangeAspect="1"/>
          </p:cNvPicPr>
          <p:nvPr/>
        </p:nvPicPr>
        <p:blipFill>
          <a:blip r:embed="rId4"/>
          <a:stretch>
            <a:fillRect/>
          </a:stretch>
        </p:blipFill>
        <p:spPr>
          <a:xfrm>
            <a:off x="11076875" y="6558991"/>
            <a:ext cx="1071843" cy="256032"/>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master 3">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EDF1F8"/>
          </a:solidFill>
          <a:ln/>
        </p:spPr>
      </p:sp>
      <p:sp>
        <p:nvSpPr>
          <p:cNvPr id="3" name="Shape 1"/>
          <p:cNvSpPr/>
          <p:nvPr/>
        </p:nvSpPr>
        <p:spPr>
          <a:xfrm>
            <a:off x="0" y="0"/>
            <a:ext cx="12191695" cy="6858000"/>
          </a:xfrm>
          <a:prstGeom prst="rect">
            <a:avLst/>
          </a:prstGeom>
          <a:solidFill>
            <a:srgbClr val="FBFCFE"/>
          </a:solidFill>
          <a:ln/>
        </p:spPr>
      </p:sp>
      <p:pic>
        <p:nvPicPr>
          <p:cNvPr id="4" name="Image 0" descr="preencoded.png"/>
          <p:cNvPicPr>
            <a:picLocks noChangeAspect="1"/>
          </p:cNvPicPr>
          <p:nvPr/>
        </p:nvPicPr>
        <p:blipFill>
          <a:blip r:embed="rId2"/>
          <a:stretch>
            <a:fillRect/>
          </a:stretch>
        </p:blipFill>
        <p:spPr>
          <a:xfrm>
            <a:off x="0" y="0"/>
            <a:ext cx="12191695" cy="6858000"/>
          </a:xfrm>
          <a:prstGeom prst="rect">
            <a:avLst/>
          </a:prstGeom>
        </p:spPr>
      </p:pic>
      <p:pic>
        <p:nvPicPr>
          <p:cNvPr id="5" name="Image 1" descr="preencoded.png">
            <a:hlinkClick r:id="rId3"/>
          </p:cNvPr>
          <p:cNvPicPr>
            <a:picLocks noChangeAspect="1"/>
          </p:cNvPicPr>
          <p:nvPr/>
        </p:nvPicPr>
        <p:blipFill>
          <a:blip r:embed="rId4"/>
          <a:stretch>
            <a:fillRect/>
          </a:stretch>
        </p:blipFill>
        <p:spPr>
          <a:xfrm>
            <a:off x="11076875" y="6558991"/>
            <a:ext cx="1071843" cy="256032"/>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master 4">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EDF1F8"/>
          </a:solidFill>
          <a:ln/>
        </p:spPr>
      </p:sp>
      <p:sp>
        <p:nvSpPr>
          <p:cNvPr id="3" name="Shape 1"/>
          <p:cNvSpPr/>
          <p:nvPr/>
        </p:nvSpPr>
        <p:spPr>
          <a:xfrm>
            <a:off x="0" y="0"/>
            <a:ext cx="12191695" cy="6858000"/>
          </a:xfrm>
          <a:prstGeom prst="rect">
            <a:avLst/>
          </a:prstGeom>
          <a:solidFill>
            <a:srgbClr val="FBFCFE"/>
          </a:solidFill>
          <a:ln/>
        </p:spPr>
      </p:sp>
      <p:pic>
        <p:nvPicPr>
          <p:cNvPr id="4" name="Image 0" descr="preencoded.png"/>
          <p:cNvPicPr>
            <a:picLocks noChangeAspect="1"/>
          </p:cNvPicPr>
          <p:nvPr/>
        </p:nvPicPr>
        <p:blipFill>
          <a:blip r:embed="rId2"/>
          <a:stretch>
            <a:fillRect/>
          </a:stretch>
        </p:blipFill>
        <p:spPr>
          <a:xfrm>
            <a:off x="0" y="0"/>
            <a:ext cx="12191695" cy="6858000"/>
          </a:xfrm>
          <a:prstGeom prst="rect">
            <a:avLst/>
          </a:prstGeom>
        </p:spPr>
      </p:pic>
      <p:pic>
        <p:nvPicPr>
          <p:cNvPr id="5" name="Image 1" descr="preencoded.png">
            <a:hlinkClick r:id="rId3"/>
          </p:cNvPr>
          <p:cNvPicPr>
            <a:picLocks noChangeAspect="1"/>
          </p:cNvPicPr>
          <p:nvPr/>
        </p:nvPicPr>
        <p:blipFill>
          <a:blip r:embed="rId4"/>
          <a:stretch>
            <a:fillRect/>
          </a:stretch>
        </p:blipFill>
        <p:spPr>
          <a:xfrm>
            <a:off x="11076875" y="6558991"/>
            <a:ext cx="1071843" cy="256032"/>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master 5">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EDF1F8"/>
          </a:solidFill>
          <a:ln/>
        </p:spPr>
      </p:sp>
      <p:sp>
        <p:nvSpPr>
          <p:cNvPr id="3" name="Shape 1"/>
          <p:cNvSpPr/>
          <p:nvPr/>
        </p:nvSpPr>
        <p:spPr>
          <a:xfrm>
            <a:off x="0" y="0"/>
            <a:ext cx="12191695" cy="6858000"/>
          </a:xfrm>
          <a:prstGeom prst="rect">
            <a:avLst/>
          </a:prstGeom>
          <a:solidFill>
            <a:srgbClr val="FBFCFE"/>
          </a:solidFill>
          <a:ln/>
        </p:spPr>
      </p:sp>
      <p:pic>
        <p:nvPicPr>
          <p:cNvPr id="4" name="Image 0" descr="preencoded.png"/>
          <p:cNvPicPr>
            <a:picLocks noChangeAspect="1"/>
          </p:cNvPicPr>
          <p:nvPr/>
        </p:nvPicPr>
        <p:blipFill>
          <a:blip r:embed="rId2"/>
          <a:stretch>
            <a:fillRect/>
          </a:stretch>
        </p:blipFill>
        <p:spPr>
          <a:xfrm>
            <a:off x="0" y="0"/>
            <a:ext cx="12191695" cy="6860381"/>
          </a:xfrm>
          <a:prstGeom prst="rect">
            <a:avLst/>
          </a:prstGeom>
        </p:spPr>
      </p:pic>
      <p:pic>
        <p:nvPicPr>
          <p:cNvPr id="5" name="Image 1" descr="preencoded.png">
            <a:hlinkClick r:id="rId3"/>
          </p:cNvPr>
          <p:cNvPicPr>
            <a:picLocks noChangeAspect="1"/>
          </p:cNvPicPr>
          <p:nvPr/>
        </p:nvPicPr>
        <p:blipFill>
          <a:blip r:embed="rId4"/>
          <a:stretch>
            <a:fillRect/>
          </a:stretch>
        </p:blipFill>
        <p:spPr>
          <a:xfrm>
            <a:off x="11076875" y="6558991"/>
            <a:ext cx="1071843" cy="256032"/>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master 6">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EDF1F8"/>
          </a:solidFill>
          <a:ln/>
        </p:spPr>
      </p:sp>
      <p:sp>
        <p:nvSpPr>
          <p:cNvPr id="3" name="Shape 1"/>
          <p:cNvSpPr/>
          <p:nvPr/>
        </p:nvSpPr>
        <p:spPr>
          <a:xfrm>
            <a:off x="0" y="0"/>
            <a:ext cx="12191695" cy="6858000"/>
          </a:xfrm>
          <a:prstGeom prst="rect">
            <a:avLst/>
          </a:prstGeom>
          <a:solidFill>
            <a:srgbClr val="FBFCFE"/>
          </a:solidFill>
          <a:ln/>
        </p:spPr>
      </p:sp>
      <p:pic>
        <p:nvPicPr>
          <p:cNvPr id="4" name="Image 0" descr="preencoded.png"/>
          <p:cNvPicPr>
            <a:picLocks noChangeAspect="1"/>
          </p:cNvPicPr>
          <p:nvPr/>
        </p:nvPicPr>
        <p:blipFill>
          <a:blip r:embed="rId2"/>
          <a:stretch>
            <a:fillRect/>
          </a:stretch>
        </p:blipFill>
        <p:spPr>
          <a:xfrm>
            <a:off x="0" y="0"/>
            <a:ext cx="12191695" cy="6858000"/>
          </a:xfrm>
          <a:prstGeom prst="rect">
            <a:avLst/>
          </a:prstGeom>
        </p:spPr>
      </p:pic>
      <p:pic>
        <p:nvPicPr>
          <p:cNvPr id="5" name="Image 1" descr="preencoded.png">
            <a:hlinkClick r:id="rId3"/>
          </p:cNvPr>
          <p:cNvPicPr>
            <a:picLocks noChangeAspect="1"/>
          </p:cNvPicPr>
          <p:nvPr/>
        </p:nvPicPr>
        <p:blipFill>
          <a:blip r:embed="rId4"/>
          <a:stretch>
            <a:fillRect/>
          </a:stretch>
        </p:blipFill>
        <p:spPr>
          <a:xfrm>
            <a:off x="11076875" y="6558991"/>
            <a:ext cx="1071843" cy="256032"/>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master 7">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EDF1F8"/>
          </a:solidFill>
          <a:ln/>
        </p:spPr>
      </p:sp>
      <p:sp>
        <p:nvSpPr>
          <p:cNvPr id="3" name="Shape 1"/>
          <p:cNvSpPr/>
          <p:nvPr/>
        </p:nvSpPr>
        <p:spPr>
          <a:xfrm>
            <a:off x="0" y="0"/>
            <a:ext cx="12191695" cy="6858000"/>
          </a:xfrm>
          <a:prstGeom prst="rect">
            <a:avLst/>
          </a:prstGeom>
          <a:solidFill>
            <a:srgbClr val="FBFCFE"/>
          </a:solidFill>
          <a:ln/>
        </p:spPr>
      </p:sp>
      <p:pic>
        <p:nvPicPr>
          <p:cNvPr id="4" name="Image 0" descr="preencoded.png"/>
          <p:cNvPicPr>
            <a:picLocks noChangeAspect="1"/>
          </p:cNvPicPr>
          <p:nvPr/>
        </p:nvPicPr>
        <p:blipFill>
          <a:blip r:embed="rId2"/>
          <a:stretch>
            <a:fillRect/>
          </a:stretch>
        </p:blipFill>
        <p:spPr>
          <a:xfrm>
            <a:off x="0" y="0"/>
            <a:ext cx="12191695" cy="6858000"/>
          </a:xfrm>
          <a:prstGeom prst="rect">
            <a:avLst/>
          </a:prstGeom>
        </p:spPr>
      </p:pic>
      <p:pic>
        <p:nvPicPr>
          <p:cNvPr id="5" name="Image 1" descr="preencoded.png">
            <a:hlinkClick r:id="rId3"/>
          </p:cNvPr>
          <p:cNvPicPr>
            <a:picLocks noChangeAspect="1"/>
          </p:cNvPicPr>
          <p:nvPr/>
        </p:nvPicPr>
        <p:blipFill>
          <a:blip r:embed="rId4"/>
          <a:stretch>
            <a:fillRect/>
          </a:stretch>
        </p:blipFill>
        <p:spPr>
          <a:xfrm>
            <a:off x="11076875" y="65589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5.xml"/><Relationship Id="rId1" Type="http://schemas.openxmlformats.org/officeDocument/2006/relationships/slideLayout" Target="../slideLayouts/slideLayout5.xml"/><Relationship Id="rId4" Type="http://schemas.openxmlformats.org/officeDocument/2006/relationships/image" Target="../media/image29.png"/></Relationships>
</file>

<file path=ppt/slides/_rels/slide26.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26.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8.xml"/><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61475" y="1287264"/>
            <a:ext cx="10868745" cy="815181"/>
          </a:xfrm>
          <a:prstGeom prst="rect">
            <a:avLst/>
          </a:prstGeom>
          <a:noFill/>
          <a:ln/>
        </p:spPr>
        <p:txBody>
          <a:bodyPr wrap="none" lIns="0" tIns="0" rIns="0" bIns="0" rtlCol="0" anchor="t"/>
          <a:lstStyle/>
          <a:p>
            <a:pPr marL="0" indent="0" algn="l">
              <a:lnSpc>
                <a:spcPct val="104000"/>
              </a:lnSpc>
              <a:buNone/>
            </a:pPr>
            <a:r>
              <a:rPr lang="en-US" sz="5100" dirty="0">
                <a:solidFill>
                  <a:srgbClr val="F9D933"/>
                </a:solidFill>
                <a:latin typeface="Roboto Slab" pitchFamily="34" charset="0"/>
                <a:ea typeface="Roboto Slab" pitchFamily="34" charset="-122"/>
                <a:cs typeface="Roboto Slab" pitchFamily="34" charset="-120"/>
              </a:rPr>
              <a:t>Startup Failure Risk Predictor</a:t>
            </a:r>
            <a:endParaRPr lang="en-US" sz="5100" dirty="0"/>
          </a:p>
        </p:txBody>
      </p:sp>
      <p:sp>
        <p:nvSpPr>
          <p:cNvPr id="3" name="Text 1"/>
          <p:cNvSpPr/>
          <p:nvPr/>
        </p:nvSpPr>
        <p:spPr>
          <a:xfrm>
            <a:off x="661475" y="2385913"/>
            <a:ext cx="11478330" cy="377924"/>
          </a:xfrm>
          <a:prstGeom prst="rect">
            <a:avLst/>
          </a:prstGeom>
          <a:noFill/>
          <a:ln/>
        </p:spPr>
        <p:txBody>
          <a:bodyPr wrap="none" lIns="0" tIns="0" rIns="0" bIns="0" rtlCol="0" anchor="t"/>
          <a:lstStyle/>
          <a:p>
            <a:pPr marL="0" indent="0" algn="l">
              <a:lnSpc>
                <a:spcPct val="133000"/>
              </a:lnSpc>
              <a:buNone/>
            </a:pPr>
            <a:r>
              <a:rPr lang="en-US" sz="1850" b="1" dirty="0">
                <a:solidFill>
                  <a:srgbClr val="FBFCFE"/>
                </a:solidFill>
                <a:latin typeface="Roboto Bold" pitchFamily="34" charset="0"/>
                <a:ea typeface="Roboto Bold" pitchFamily="34" charset="-122"/>
                <a:cs typeface="Roboto Bold" pitchFamily="34" charset="-120"/>
              </a:rPr>
              <a:t>Predicting Startup Failure Through Founder Burnout &amp; Business Factors</a:t>
            </a:r>
            <a:endParaRPr lang="en-US" sz="1850" dirty="0"/>
          </a:p>
        </p:txBody>
      </p:sp>
      <p:sp>
        <p:nvSpPr>
          <p:cNvPr id="4" name="Text 2"/>
          <p:cNvSpPr/>
          <p:nvPr/>
        </p:nvSpPr>
        <p:spPr>
          <a:xfrm>
            <a:off x="661475" y="2976463"/>
            <a:ext cx="10868745" cy="2877641"/>
          </a:xfrm>
          <a:prstGeom prst="rect">
            <a:avLst/>
          </a:prstGeom>
          <a:noFill/>
          <a:ln/>
        </p:spPr>
        <p:txBody>
          <a:bodyPr wrap="square" lIns="0" tIns="0" rIns="0" bIns="0" rtlCol="0" anchor="t"/>
          <a:lstStyle/>
          <a:p>
            <a:pPr marL="0" indent="0" algn="l">
              <a:lnSpc>
                <a:spcPct val="133000"/>
              </a:lnSpc>
              <a:spcAft>
                <a:spcPts val="1650"/>
              </a:spcAft>
              <a:buNone/>
            </a:pPr>
            <a:r>
              <a:rPr lang="en-US" sz="1450" dirty="0">
                <a:solidFill>
                  <a:srgbClr val="F9D933"/>
                </a:solidFill>
                <a:latin typeface="Roboto" pitchFamily="34" charset="0"/>
                <a:ea typeface="Roboto" pitchFamily="34" charset="-122"/>
                <a:cs typeface="Roboto" pitchFamily="34" charset="-120"/>
              </a:rPr>
              <a:t>Kyrellos Tharwat Lamaey</a:t>
            </a:r>
            <a:endParaRPr lang="en-US" sz="1450" dirty="0"/>
          </a:p>
          <a:p>
            <a:pPr marL="0" indent="0" algn="l">
              <a:lnSpc>
                <a:spcPct val="133000"/>
              </a:lnSpc>
              <a:spcAft>
                <a:spcPts val="1650"/>
              </a:spcAft>
              <a:buNone/>
            </a:pPr>
            <a:r>
              <a:rPr lang="en-US" sz="1450" dirty="0">
                <a:solidFill>
                  <a:srgbClr val="F9D933"/>
                </a:solidFill>
                <a:latin typeface="Roboto" pitchFamily="34" charset="0"/>
                <a:ea typeface="Roboto" pitchFamily="34" charset="-122"/>
                <a:cs typeface="Roboto" pitchFamily="34" charset="-120"/>
              </a:rPr>
              <a:t>Mohammed Elsayed Elmorsy</a:t>
            </a:r>
            <a:endParaRPr lang="en-US" sz="1450" dirty="0"/>
          </a:p>
          <a:p>
            <a:pPr marL="0" indent="0" algn="l">
              <a:lnSpc>
                <a:spcPct val="133000"/>
              </a:lnSpc>
              <a:spcAft>
                <a:spcPts val="1650"/>
              </a:spcAft>
              <a:buNone/>
            </a:pPr>
            <a:r>
              <a:rPr lang="en-US" sz="1450" dirty="0">
                <a:solidFill>
                  <a:srgbClr val="F9D933"/>
                </a:solidFill>
                <a:latin typeface="Roboto" pitchFamily="34" charset="0"/>
                <a:ea typeface="Roboto" pitchFamily="34" charset="-122"/>
                <a:cs typeface="Roboto" pitchFamily="34" charset="-120"/>
              </a:rPr>
              <a:t>Ahmed Hossam Matar</a:t>
            </a:r>
            <a:endParaRPr lang="en-US" sz="1450" dirty="0"/>
          </a:p>
          <a:p>
            <a:pPr marL="0" indent="0" algn="l">
              <a:lnSpc>
                <a:spcPct val="133000"/>
              </a:lnSpc>
              <a:spcAft>
                <a:spcPts val="1650"/>
              </a:spcAft>
              <a:buNone/>
            </a:pPr>
            <a:r>
              <a:rPr lang="en-US" sz="1450" dirty="0">
                <a:solidFill>
                  <a:srgbClr val="F9D933"/>
                </a:solidFill>
                <a:latin typeface="Roboto" pitchFamily="34" charset="0"/>
                <a:ea typeface="Roboto" pitchFamily="34" charset="-122"/>
                <a:cs typeface="Roboto" pitchFamily="34" charset="-120"/>
              </a:rPr>
              <a:t>Mohammed Magdy Mahmoud</a:t>
            </a:r>
            <a:endParaRPr lang="en-US" sz="1450" dirty="0"/>
          </a:p>
          <a:p>
            <a:pPr marL="0" indent="0" algn="l">
              <a:lnSpc>
                <a:spcPct val="133000"/>
              </a:lnSpc>
              <a:spcAft>
                <a:spcPts val="1650"/>
              </a:spcAft>
              <a:buNone/>
            </a:pPr>
            <a:endParaRPr lang="en-US" sz="1450" dirty="0"/>
          </a:p>
          <a:p>
            <a:pPr marL="0" indent="0" algn="l">
              <a:lnSpc>
                <a:spcPct val="133000"/>
              </a:lnSpc>
              <a:buNone/>
            </a:pPr>
            <a:r>
              <a:rPr lang="en-US" sz="1450" dirty="0">
                <a:solidFill>
                  <a:srgbClr val="15213F"/>
                </a:solidFill>
                <a:latin typeface="Roboto" pitchFamily="34" charset="0"/>
                <a:ea typeface="Roboto" pitchFamily="34" charset="-122"/>
                <a:cs typeface="Roboto" pitchFamily="34" charset="-120"/>
              </a:rPr>
              <a:t>m</a:t>
            </a:r>
            <a:endParaRPr lang="en-US" sz="14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61475" y="1694954"/>
            <a:ext cx="10868745" cy="354409"/>
          </a:xfrm>
          <a:prstGeom prst="rect">
            <a:avLst/>
          </a:prstGeom>
          <a:noFill/>
          <a:ln/>
        </p:spPr>
        <p:txBody>
          <a:bodyPr wrap="none" lIns="0" tIns="0" rIns="0" bIns="0" rtlCol="0" anchor="t"/>
          <a:lstStyle/>
          <a:p>
            <a:pPr marL="0" indent="0" algn="l">
              <a:lnSpc>
                <a:spcPct val="104000"/>
              </a:lnSpc>
              <a:buNone/>
            </a:pPr>
            <a:r>
              <a:rPr lang="en-US" sz="2200" dirty="0">
                <a:solidFill>
                  <a:srgbClr val="F9D933"/>
                </a:solidFill>
                <a:latin typeface="Roboto Slab" pitchFamily="34" charset="0"/>
                <a:ea typeface="Roboto Slab" pitchFamily="34" charset="-122"/>
                <a:cs typeface="Roboto Slab" pitchFamily="34" charset="-120"/>
              </a:rPr>
              <a:t>The Problem: Predicting Startup Failure Risk Through Founder Burnout</a:t>
            </a:r>
            <a:endParaRPr lang="en-US" sz="2200" dirty="0"/>
          </a:p>
        </p:txBody>
      </p:sp>
      <p:sp>
        <p:nvSpPr>
          <p:cNvPr id="3" name="Text 1"/>
          <p:cNvSpPr/>
          <p:nvPr/>
        </p:nvSpPr>
        <p:spPr>
          <a:xfrm>
            <a:off x="661475" y="2332831"/>
            <a:ext cx="10868745" cy="1209675"/>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FBFCFE"/>
                </a:solidFill>
                <a:latin typeface="Roboto" pitchFamily="34" charset="0"/>
                <a:ea typeface="Roboto" pitchFamily="34" charset="-122"/>
                <a:cs typeface="Roboto" pitchFamily="34" charset="-120"/>
              </a:rPr>
              <a:t>Startup failure is rarely just a financial story — it's deeply tied to the psychological and operational state of the founder. While most predictive models focus purely on funding and revenue metrics, they overlook a critical driver: founder burnout. Our project bridges this gap by building a machine learning model that predicts startup failure risk based on the human side of entrepreneurship.</a:t>
            </a:r>
            <a:endParaRPr lang="en-US" sz="1450" dirty="0"/>
          </a:p>
        </p:txBody>
      </p:sp>
      <p:sp>
        <p:nvSpPr>
          <p:cNvPr id="4" name="Text 2"/>
          <p:cNvSpPr/>
          <p:nvPr/>
        </p:nvSpPr>
        <p:spPr>
          <a:xfrm>
            <a:off x="661475" y="3755132"/>
            <a:ext cx="10868745" cy="1407914"/>
          </a:xfrm>
          <a:prstGeom prst="rect">
            <a:avLst/>
          </a:prstGeom>
          <a:noFill/>
          <a:ln/>
        </p:spPr>
        <p:txBody>
          <a:bodyPr wrap="square" lIns="0" tIns="0" rIns="0" bIns="0" rtlCol="0" anchor="t">
            <a:normAutofit/>
          </a:bodyPr>
          <a:lstStyle/>
          <a:p>
            <a:pPr marL="294640" indent="-294640" algn="l">
              <a:lnSpc>
                <a:spcPct val="133000"/>
              </a:lnSpc>
              <a:buSzPct val="100000"/>
              <a:buChar char="•"/>
            </a:pPr>
            <a:r>
              <a:rPr lang="en-US" sz="1450" dirty="0">
                <a:solidFill>
                  <a:srgbClr val="FBFCFE"/>
                </a:solidFill>
                <a:latin typeface="Roboto" pitchFamily="34" charset="0"/>
                <a:ea typeface="Roboto" pitchFamily="34" charset="-122"/>
                <a:cs typeface="Roboto" pitchFamily="34" charset="-120"/>
              </a:rPr>
              <a:t>Startup culture normalizes long working hours, investor pressure, and emotional exhaustion.</a:t>
            </a:r>
            <a:endParaRPr lang="en-US" sz="1450" dirty="0"/>
          </a:p>
          <a:p>
            <a:pPr marL="294640" indent="-294640" algn="l">
              <a:lnSpc>
                <a:spcPct val="133000"/>
              </a:lnSpc>
              <a:buSzPct val="100000"/>
              <a:buChar char="•"/>
            </a:pPr>
            <a:r>
              <a:rPr lang="en-US" sz="1450" dirty="0">
                <a:solidFill>
                  <a:srgbClr val="FBFCFE"/>
                </a:solidFill>
                <a:latin typeface="Roboto" pitchFamily="34" charset="0"/>
                <a:ea typeface="Roboto" pitchFamily="34" charset="-122"/>
                <a:cs typeface="Roboto" pitchFamily="34" charset="-120"/>
              </a:rPr>
              <a:t>Most existing datasets and models ignore the psychological toll on founders, focusing only on funding and revenue.</a:t>
            </a:r>
            <a:endParaRPr lang="en-US" sz="1450" dirty="0"/>
          </a:p>
          <a:p>
            <a:pPr marL="294640" indent="-294640" algn="l">
              <a:lnSpc>
                <a:spcPct val="133000"/>
              </a:lnSpc>
              <a:buSzPct val="100000"/>
              <a:buChar char="•"/>
            </a:pPr>
            <a:r>
              <a:rPr lang="en-US" sz="1450" dirty="0">
                <a:solidFill>
                  <a:srgbClr val="FBFCFE"/>
                </a:solidFill>
                <a:latin typeface="Roboto" pitchFamily="34" charset="0"/>
                <a:ea typeface="Roboto" pitchFamily="34" charset="-122"/>
                <a:cs typeface="Roboto" pitchFamily="34" charset="-120"/>
              </a:rPr>
              <a:t>Burnout, sleep deprivation, and decision fatigue directly correlate with rising failure risk.</a:t>
            </a:r>
            <a:endParaRPr lang="en-US" sz="1450" dirty="0"/>
          </a:p>
          <a:p>
            <a:pPr marL="294640" indent="-294640" algn="l">
              <a:lnSpc>
                <a:spcPct val="133000"/>
              </a:lnSpc>
              <a:buSzPct val="100000"/>
              <a:buChar char="•"/>
            </a:pPr>
            <a:r>
              <a:rPr lang="en-US" sz="1450" dirty="0">
                <a:solidFill>
                  <a:srgbClr val="FBFCFE"/>
                </a:solidFill>
                <a:latin typeface="Roboto" pitchFamily="34" charset="0"/>
                <a:ea typeface="Roboto" pitchFamily="34" charset="-122"/>
                <a:cs typeface="Roboto" pitchFamily="34" charset="-120"/>
              </a:rPr>
              <a:t>Cofounder conflict and work-life imbalance are early warning signs that traditional metrics fail to capture.</a:t>
            </a:r>
            <a:endParaRPr lang="en-US" sz="14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61475" y="1596330"/>
            <a:ext cx="10868745" cy="590649"/>
          </a:xfrm>
          <a:prstGeom prst="rect">
            <a:avLst/>
          </a:prstGeom>
          <a:noFill/>
          <a:ln/>
        </p:spPr>
        <p:txBody>
          <a:bodyPr wrap="none" lIns="0" tIns="0" rIns="0" bIns="0" rtlCol="0" anchor="t"/>
          <a:lstStyle/>
          <a:p>
            <a:pPr marL="0" indent="0" algn="l">
              <a:lnSpc>
                <a:spcPct val="104000"/>
              </a:lnSpc>
              <a:buNone/>
            </a:pPr>
            <a:r>
              <a:rPr lang="en-US" sz="3700" dirty="0">
                <a:solidFill>
                  <a:srgbClr val="F9D933"/>
                </a:solidFill>
                <a:latin typeface="Roboto Slab" pitchFamily="34" charset="0"/>
                <a:ea typeface="Roboto Slab" pitchFamily="34" charset="-122"/>
                <a:cs typeface="Roboto Slab" pitchFamily="34" charset="-120"/>
              </a:rPr>
              <a:t>Our Approach</a:t>
            </a:r>
            <a:endParaRPr lang="en-US" sz="3700" dirty="0"/>
          </a:p>
        </p:txBody>
      </p:sp>
      <p:sp>
        <p:nvSpPr>
          <p:cNvPr id="3" name="Text 1"/>
          <p:cNvSpPr/>
          <p:nvPr/>
        </p:nvSpPr>
        <p:spPr>
          <a:xfrm>
            <a:off x="661475" y="2470448"/>
            <a:ext cx="11478330" cy="302419"/>
          </a:xfrm>
          <a:prstGeom prst="rect">
            <a:avLst/>
          </a:prstGeom>
          <a:noFill/>
          <a:ln/>
        </p:spPr>
        <p:txBody>
          <a:bodyPr wrap="none" lIns="0" tIns="0" rIns="0" bIns="0" rtlCol="0" anchor="t"/>
          <a:lstStyle/>
          <a:p>
            <a:pPr marL="0" indent="0" algn="l">
              <a:lnSpc>
                <a:spcPct val="133000"/>
              </a:lnSpc>
              <a:buNone/>
            </a:pPr>
            <a:r>
              <a:rPr lang="en-US" sz="1450" dirty="0">
                <a:solidFill>
                  <a:srgbClr val="FBFCFE"/>
                </a:solidFill>
                <a:latin typeface="Roboto" pitchFamily="34" charset="0"/>
                <a:ea typeface="Roboto" pitchFamily="34" charset="-122"/>
                <a:cs typeface="Roboto" pitchFamily="34" charset="-120"/>
              </a:rPr>
              <a:t>Real-world data is rarely clean or straightforward. Building an effective ML solution requires confronting complexity head-on.</a:t>
            </a:r>
            <a:endParaRPr lang="en-US" sz="1450" dirty="0"/>
          </a:p>
        </p:txBody>
      </p:sp>
      <p:pic>
        <p:nvPicPr>
          <p:cNvPr id="4"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61475" y="2985492"/>
            <a:ext cx="5339820" cy="2276078"/>
          </a:xfrm>
          <a:prstGeom prst="rect">
            <a:avLst/>
          </a:prstGeom>
        </p:spPr>
      </p:pic>
      <p:sp>
        <p:nvSpPr>
          <p:cNvPr id="5" name="Text 2"/>
          <p:cNvSpPr/>
          <p:nvPr/>
        </p:nvSpPr>
        <p:spPr>
          <a:xfrm>
            <a:off x="977479" y="3199904"/>
            <a:ext cx="4809409" cy="295275"/>
          </a:xfrm>
          <a:prstGeom prst="rect">
            <a:avLst/>
          </a:prstGeom>
          <a:noFill/>
          <a:ln/>
        </p:spPr>
        <p:txBody>
          <a:bodyPr wrap="none" lIns="0" tIns="0" rIns="0" bIns="0" rtlCol="0" anchor="t"/>
          <a:lstStyle/>
          <a:p>
            <a:pPr marL="0" indent="0" algn="l">
              <a:lnSpc>
                <a:spcPct val="104000"/>
              </a:lnSpc>
              <a:buNone/>
            </a:pPr>
            <a:r>
              <a:rPr lang="en-US" sz="1850" dirty="0">
                <a:solidFill>
                  <a:srgbClr val="5CC97B"/>
                </a:solidFill>
                <a:latin typeface="Roboto Slab" pitchFamily="34" charset="0"/>
                <a:ea typeface="Roboto Slab" pitchFamily="34" charset="-122"/>
                <a:cs typeface="Roboto Slab" pitchFamily="34" charset="-120"/>
              </a:rPr>
              <a:t>The Hidden Human Factor </a:t>
            </a:r>
            <a:endParaRPr lang="en-US" sz="1850" dirty="0"/>
          </a:p>
        </p:txBody>
      </p:sp>
      <p:sp>
        <p:nvSpPr>
          <p:cNvPr id="6" name="Text 3"/>
          <p:cNvSpPr/>
          <p:nvPr/>
        </p:nvSpPr>
        <p:spPr>
          <a:xfrm>
            <a:off x="977479" y="3570784"/>
            <a:ext cx="4809409" cy="1181100"/>
          </a:xfrm>
          <a:prstGeom prst="rect">
            <a:avLst/>
          </a:prstGeom>
          <a:noFill/>
          <a:ln/>
        </p:spPr>
        <p:txBody>
          <a:bodyPr wrap="square" lIns="0" tIns="0" rIns="0" bIns="0" rtlCol="0" anchor="t">
            <a:normAutofit/>
          </a:bodyPr>
          <a:lstStyle/>
          <a:p>
            <a:pPr marL="0" indent="0" algn="l">
              <a:lnSpc>
                <a:spcPct val="104000"/>
              </a:lnSpc>
              <a:buNone/>
            </a:pPr>
            <a:r>
              <a:rPr lang="en-US" sz="1850" dirty="0">
                <a:solidFill>
                  <a:srgbClr val="15213F"/>
                </a:solidFill>
                <a:latin typeface="Roboto Slab" pitchFamily="34" charset="0"/>
                <a:ea typeface="Roboto Slab" pitchFamily="34" charset="-122"/>
                <a:cs typeface="Roboto Slab" pitchFamily="34" charset="-120"/>
              </a:rPr>
              <a:t>Startup failure prediction has long ignored founder mental health — burnout, stress, and sleep deprivation remain invisible in traditional financial-only models.</a:t>
            </a:r>
            <a:endParaRPr lang="en-US" sz="1850" dirty="0"/>
          </a:p>
        </p:txBody>
      </p:sp>
      <p:pic>
        <p:nvPicPr>
          <p:cNvPr id="7" name="Image 1"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190301" y="2985492"/>
            <a:ext cx="5339919" cy="2276078"/>
          </a:xfrm>
          <a:prstGeom prst="rect">
            <a:avLst/>
          </a:prstGeom>
        </p:spPr>
      </p:pic>
      <p:sp>
        <p:nvSpPr>
          <p:cNvPr id="8" name="Text 4"/>
          <p:cNvSpPr/>
          <p:nvPr/>
        </p:nvSpPr>
        <p:spPr>
          <a:xfrm>
            <a:off x="6506305" y="3199904"/>
            <a:ext cx="4809509" cy="295275"/>
          </a:xfrm>
          <a:prstGeom prst="rect">
            <a:avLst/>
          </a:prstGeom>
          <a:noFill/>
          <a:ln/>
        </p:spPr>
        <p:txBody>
          <a:bodyPr wrap="none" lIns="0" tIns="0" rIns="0" bIns="0" rtlCol="0" anchor="t"/>
          <a:lstStyle/>
          <a:p>
            <a:pPr marL="0" indent="0" algn="l">
              <a:lnSpc>
                <a:spcPct val="104000"/>
              </a:lnSpc>
              <a:buNone/>
            </a:pPr>
            <a:r>
              <a:rPr lang="en-US" sz="1850" dirty="0">
                <a:solidFill>
                  <a:srgbClr val="5CC97B"/>
                </a:solidFill>
                <a:latin typeface="Roboto Slab" pitchFamily="34" charset="0"/>
                <a:ea typeface="Roboto Slab" pitchFamily="34" charset="-122"/>
                <a:cs typeface="Roboto Slab" pitchFamily="34" charset="-120"/>
              </a:rPr>
              <a:t>Behavioral Signal Modeling </a:t>
            </a:r>
            <a:endParaRPr lang="en-US" sz="1850" dirty="0"/>
          </a:p>
        </p:txBody>
      </p:sp>
      <p:sp>
        <p:nvSpPr>
          <p:cNvPr id="9" name="Text 5"/>
          <p:cNvSpPr/>
          <p:nvPr/>
        </p:nvSpPr>
        <p:spPr>
          <a:xfrm>
            <a:off x="6506305" y="3570784"/>
            <a:ext cx="4809509" cy="1476375"/>
          </a:xfrm>
          <a:prstGeom prst="rect">
            <a:avLst/>
          </a:prstGeom>
          <a:noFill/>
          <a:ln/>
        </p:spPr>
        <p:txBody>
          <a:bodyPr wrap="square" lIns="0" tIns="0" rIns="0" bIns="0" rtlCol="0" anchor="t">
            <a:normAutofit/>
          </a:bodyPr>
          <a:lstStyle/>
          <a:p>
            <a:pPr marL="0" indent="0" algn="l">
              <a:lnSpc>
                <a:spcPct val="104000"/>
              </a:lnSpc>
              <a:buNone/>
            </a:pPr>
            <a:r>
              <a:rPr lang="en-US" sz="1850" dirty="0">
                <a:solidFill>
                  <a:srgbClr val="15213F"/>
                </a:solidFill>
                <a:latin typeface="Roboto Slab" pitchFamily="34" charset="0"/>
                <a:ea typeface="Roboto Slab" pitchFamily="34" charset="-122"/>
                <a:cs typeface="Roboto Slab" pitchFamily="34" charset="-120"/>
              </a:rPr>
              <a:t>Our approach captures nonlinear relationships between founder psychology, operational pressure, and startup survival — turning overlooked human signals into predictive power.</a:t>
            </a:r>
            <a:endParaRPr lang="en-US" sz="1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61475" y="1137245"/>
            <a:ext cx="10868745" cy="590649"/>
          </a:xfrm>
          <a:prstGeom prst="rect">
            <a:avLst/>
          </a:prstGeom>
          <a:noFill/>
          <a:ln/>
        </p:spPr>
        <p:txBody>
          <a:bodyPr wrap="none" lIns="0" tIns="0" rIns="0" bIns="0" rtlCol="0" anchor="t"/>
          <a:lstStyle/>
          <a:p>
            <a:pPr marL="0" indent="0" algn="l">
              <a:lnSpc>
                <a:spcPct val="104000"/>
              </a:lnSpc>
              <a:buNone/>
            </a:pPr>
            <a:r>
              <a:rPr lang="en-US" sz="3700" dirty="0">
                <a:solidFill>
                  <a:srgbClr val="F9D933"/>
                </a:solidFill>
                <a:latin typeface="Roboto Slab" pitchFamily="34" charset="0"/>
                <a:ea typeface="Roboto Slab" pitchFamily="34" charset="-122"/>
                <a:cs typeface="Roboto Slab" pitchFamily="34" charset="-120"/>
              </a:rPr>
              <a:t>Dataset Overview</a:t>
            </a:r>
            <a:endParaRPr lang="en-US" sz="3700" dirty="0"/>
          </a:p>
        </p:txBody>
      </p:sp>
      <p:sp>
        <p:nvSpPr>
          <p:cNvPr id="3" name="Shape 1"/>
          <p:cNvSpPr/>
          <p:nvPr/>
        </p:nvSpPr>
        <p:spPr>
          <a:xfrm>
            <a:off x="661475" y="2011362"/>
            <a:ext cx="3496877" cy="1996380"/>
          </a:xfrm>
          <a:prstGeom prst="roundRect">
            <a:avLst>
              <a:gd name="adj" fmla="val 1420"/>
            </a:avLst>
          </a:prstGeom>
          <a:solidFill>
            <a:srgbClr val="E9ECF2"/>
          </a:solidFill>
          <a:ln/>
        </p:spPr>
        <p:txBody>
          <a:bodyPr/>
          <a:lstStyle/>
          <a:p>
            <a:endParaRPr lang="en-US"/>
          </a:p>
        </p:txBody>
      </p:sp>
      <p:sp>
        <p:nvSpPr>
          <p:cNvPr id="4" name="Text 2"/>
          <p:cNvSpPr/>
          <p:nvPr/>
        </p:nvSpPr>
        <p:spPr>
          <a:xfrm>
            <a:off x="850482" y="2200374"/>
            <a:ext cx="3118863" cy="295275"/>
          </a:xfrm>
          <a:prstGeom prst="rect">
            <a:avLst/>
          </a:prstGeom>
          <a:noFill/>
          <a:ln/>
        </p:spPr>
        <p:txBody>
          <a:bodyPr wrap="none" lIns="0" tIns="0" rIns="0" bIns="0" rtlCol="0" anchor="t"/>
          <a:lstStyle/>
          <a:p>
            <a:pPr marL="0" indent="0" algn="l">
              <a:lnSpc>
                <a:spcPct val="104000"/>
              </a:lnSpc>
              <a:buNone/>
            </a:pPr>
            <a:r>
              <a:rPr lang="en-US" sz="1850" dirty="0">
                <a:solidFill>
                  <a:srgbClr val="5CC97B"/>
                </a:solidFill>
                <a:latin typeface="Roboto Slab" pitchFamily="34" charset="0"/>
                <a:ea typeface="Roboto Slab" pitchFamily="34" charset="-122"/>
                <a:cs typeface="Roboto Slab" pitchFamily="34" charset="-120"/>
              </a:rPr>
              <a:t>Source</a:t>
            </a:r>
            <a:endParaRPr lang="en-US" sz="1850" dirty="0"/>
          </a:p>
        </p:txBody>
      </p:sp>
      <p:sp>
        <p:nvSpPr>
          <p:cNvPr id="5" name="Text 3"/>
          <p:cNvSpPr/>
          <p:nvPr/>
        </p:nvSpPr>
        <p:spPr>
          <a:xfrm>
            <a:off x="850482" y="2609056"/>
            <a:ext cx="3118863" cy="1209675"/>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15213F"/>
                </a:solidFill>
                <a:latin typeface="Roboto" pitchFamily="34" charset="0"/>
                <a:ea typeface="Roboto" pitchFamily="34" charset="-122"/>
                <a:cs typeface="Roboto" pitchFamily="34" charset="-120"/>
              </a:rPr>
              <a:t>Startup Founder Burnout &amp; Failure Risk Dataset (synthetic) — startup_founder_burnout_2026_final.csv Published on Kaggle</a:t>
            </a:r>
            <a:endParaRPr lang="en-US" sz="1450" dirty="0"/>
          </a:p>
        </p:txBody>
      </p:sp>
      <p:sp>
        <p:nvSpPr>
          <p:cNvPr id="6" name="Shape 4"/>
          <p:cNvSpPr/>
          <p:nvPr/>
        </p:nvSpPr>
        <p:spPr>
          <a:xfrm>
            <a:off x="4347359" y="2011362"/>
            <a:ext cx="3496877" cy="1996380"/>
          </a:xfrm>
          <a:prstGeom prst="roundRect">
            <a:avLst>
              <a:gd name="adj" fmla="val 1420"/>
            </a:avLst>
          </a:prstGeom>
          <a:solidFill>
            <a:srgbClr val="F2F2F2"/>
          </a:solidFill>
          <a:ln/>
        </p:spPr>
        <p:txBody>
          <a:bodyPr/>
          <a:lstStyle/>
          <a:p>
            <a:endParaRPr lang="en-US"/>
          </a:p>
        </p:txBody>
      </p:sp>
      <p:sp>
        <p:nvSpPr>
          <p:cNvPr id="7" name="Text 5"/>
          <p:cNvSpPr/>
          <p:nvPr/>
        </p:nvSpPr>
        <p:spPr>
          <a:xfrm>
            <a:off x="4536366" y="2200374"/>
            <a:ext cx="3118863" cy="295275"/>
          </a:xfrm>
          <a:prstGeom prst="rect">
            <a:avLst/>
          </a:prstGeom>
          <a:noFill/>
          <a:ln/>
        </p:spPr>
        <p:txBody>
          <a:bodyPr wrap="none" lIns="0" tIns="0" rIns="0" bIns="0" rtlCol="0" anchor="t"/>
          <a:lstStyle/>
          <a:p>
            <a:pPr marL="0" indent="0" algn="l">
              <a:lnSpc>
                <a:spcPct val="104000"/>
              </a:lnSpc>
              <a:buNone/>
            </a:pPr>
            <a:r>
              <a:rPr lang="en-US" sz="1850" dirty="0">
                <a:solidFill>
                  <a:srgbClr val="5CC97B"/>
                </a:solidFill>
                <a:latin typeface="Roboto Slab" pitchFamily="34" charset="0"/>
                <a:ea typeface="Roboto Slab" pitchFamily="34" charset="-122"/>
                <a:cs typeface="Roboto Slab" pitchFamily="34" charset="-120"/>
              </a:rPr>
              <a:t>Records</a:t>
            </a:r>
            <a:endParaRPr lang="en-US" sz="1850" dirty="0"/>
          </a:p>
        </p:txBody>
      </p:sp>
      <p:sp>
        <p:nvSpPr>
          <p:cNvPr id="8" name="Text 6"/>
          <p:cNvSpPr/>
          <p:nvPr/>
        </p:nvSpPr>
        <p:spPr>
          <a:xfrm>
            <a:off x="4536366" y="2609056"/>
            <a:ext cx="3118863" cy="604838"/>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000000"/>
                </a:solidFill>
                <a:latin typeface="Roboto" pitchFamily="34" charset="0"/>
                <a:ea typeface="Roboto" pitchFamily="34" charset="-122"/>
                <a:cs typeface="Roboto" pitchFamily="34" charset="-120"/>
              </a:rPr>
              <a:t>50,000 realistic synthetic founder records</a:t>
            </a:r>
            <a:endParaRPr lang="en-US" sz="1450" dirty="0"/>
          </a:p>
        </p:txBody>
      </p:sp>
      <p:sp>
        <p:nvSpPr>
          <p:cNvPr id="9" name="Shape 7"/>
          <p:cNvSpPr/>
          <p:nvPr/>
        </p:nvSpPr>
        <p:spPr>
          <a:xfrm>
            <a:off x="8033244" y="2011362"/>
            <a:ext cx="3496877" cy="1996380"/>
          </a:xfrm>
          <a:prstGeom prst="roundRect">
            <a:avLst>
              <a:gd name="adj" fmla="val 1420"/>
            </a:avLst>
          </a:prstGeom>
          <a:solidFill>
            <a:srgbClr val="E9ECF2"/>
          </a:solidFill>
          <a:ln/>
        </p:spPr>
        <p:txBody>
          <a:bodyPr/>
          <a:lstStyle/>
          <a:p>
            <a:endParaRPr lang="en-US"/>
          </a:p>
        </p:txBody>
      </p:sp>
      <p:sp>
        <p:nvSpPr>
          <p:cNvPr id="10" name="Text 8"/>
          <p:cNvSpPr/>
          <p:nvPr/>
        </p:nvSpPr>
        <p:spPr>
          <a:xfrm>
            <a:off x="8222251" y="2200374"/>
            <a:ext cx="3118863" cy="295275"/>
          </a:xfrm>
          <a:prstGeom prst="rect">
            <a:avLst/>
          </a:prstGeom>
          <a:noFill/>
          <a:ln/>
        </p:spPr>
        <p:txBody>
          <a:bodyPr wrap="none" lIns="0" tIns="0" rIns="0" bIns="0" rtlCol="0" anchor="t"/>
          <a:lstStyle/>
          <a:p>
            <a:pPr marL="0" indent="0" algn="l">
              <a:lnSpc>
                <a:spcPct val="104000"/>
              </a:lnSpc>
              <a:buNone/>
            </a:pPr>
            <a:r>
              <a:rPr lang="en-US" sz="1850" dirty="0">
                <a:solidFill>
                  <a:srgbClr val="5CC97B"/>
                </a:solidFill>
                <a:latin typeface="Roboto Slab" pitchFamily="34" charset="0"/>
                <a:ea typeface="Roboto Slab" pitchFamily="34" charset="-122"/>
                <a:cs typeface="Roboto Slab" pitchFamily="34" charset="-120"/>
              </a:rPr>
              <a:t>Features</a:t>
            </a:r>
            <a:endParaRPr lang="en-US" sz="1850" dirty="0"/>
          </a:p>
        </p:txBody>
      </p:sp>
      <p:sp>
        <p:nvSpPr>
          <p:cNvPr id="11" name="Text 9"/>
          <p:cNvSpPr/>
          <p:nvPr/>
        </p:nvSpPr>
        <p:spPr>
          <a:xfrm>
            <a:off x="8222251" y="2609056"/>
            <a:ext cx="3118863" cy="604838"/>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15213F"/>
                </a:solidFill>
                <a:latin typeface="Roboto" pitchFamily="34" charset="0"/>
                <a:ea typeface="Roboto" pitchFamily="34" charset="-122"/>
                <a:cs typeface="Roboto" pitchFamily="34" charset="-120"/>
              </a:rPr>
              <a:t> 29 carefully engineered features across 5 key domains</a:t>
            </a:r>
            <a:endParaRPr lang="en-US" sz="1450" dirty="0"/>
          </a:p>
        </p:txBody>
      </p:sp>
      <p:sp>
        <p:nvSpPr>
          <p:cNvPr id="12" name="Shape 10"/>
          <p:cNvSpPr/>
          <p:nvPr/>
        </p:nvSpPr>
        <p:spPr>
          <a:xfrm>
            <a:off x="661475" y="4196755"/>
            <a:ext cx="10868646" cy="1807369"/>
          </a:xfrm>
          <a:prstGeom prst="roundRect">
            <a:avLst>
              <a:gd name="adj" fmla="val 1569"/>
            </a:avLst>
          </a:prstGeom>
          <a:solidFill>
            <a:srgbClr val="E9ECF2"/>
          </a:solidFill>
          <a:ln/>
        </p:spPr>
        <p:txBody>
          <a:bodyPr/>
          <a:lstStyle/>
          <a:p>
            <a:endParaRPr lang="en-US"/>
          </a:p>
        </p:txBody>
      </p:sp>
      <p:sp>
        <p:nvSpPr>
          <p:cNvPr id="13" name="Text 11"/>
          <p:cNvSpPr/>
          <p:nvPr/>
        </p:nvSpPr>
        <p:spPr>
          <a:xfrm>
            <a:off x="850482" y="4385766"/>
            <a:ext cx="10490632" cy="295275"/>
          </a:xfrm>
          <a:prstGeom prst="rect">
            <a:avLst/>
          </a:prstGeom>
          <a:noFill/>
          <a:ln/>
        </p:spPr>
        <p:txBody>
          <a:bodyPr wrap="none" lIns="0" tIns="0" rIns="0" bIns="0" rtlCol="0" anchor="t"/>
          <a:lstStyle/>
          <a:p>
            <a:pPr marL="0" indent="0" algn="l">
              <a:lnSpc>
                <a:spcPct val="104000"/>
              </a:lnSpc>
              <a:buNone/>
            </a:pPr>
            <a:r>
              <a:rPr lang="en-US" sz="1850" dirty="0">
                <a:solidFill>
                  <a:srgbClr val="5CC97B"/>
                </a:solidFill>
                <a:latin typeface="Roboto Slab" pitchFamily="34" charset="0"/>
                <a:ea typeface="Roboto Slab" pitchFamily="34" charset="-122"/>
                <a:cs typeface="Roboto Slab" pitchFamily="34" charset="-120"/>
              </a:rPr>
              <a:t>Target</a:t>
            </a:r>
            <a:endParaRPr lang="en-US" sz="1850" dirty="0"/>
          </a:p>
        </p:txBody>
      </p:sp>
      <p:sp>
        <p:nvSpPr>
          <p:cNvPr id="14" name="Text 12"/>
          <p:cNvSpPr/>
          <p:nvPr/>
        </p:nvSpPr>
        <p:spPr>
          <a:xfrm>
            <a:off x="850482" y="4794448"/>
            <a:ext cx="10490632" cy="1020663"/>
          </a:xfrm>
          <a:prstGeom prst="rect">
            <a:avLst/>
          </a:prstGeom>
          <a:noFill/>
          <a:ln/>
        </p:spPr>
        <p:txBody>
          <a:bodyPr wrap="square" lIns="0" tIns="0" rIns="0" bIns="0" rtlCol="0" anchor="t"/>
          <a:lstStyle/>
          <a:p>
            <a:pPr marL="0" indent="0" algn="l">
              <a:lnSpc>
                <a:spcPct val="133000"/>
              </a:lnSpc>
              <a:spcAft>
                <a:spcPts val="850"/>
              </a:spcAft>
              <a:buNone/>
            </a:pPr>
            <a:r>
              <a:rPr lang="en-US" sz="1450" dirty="0">
                <a:solidFill>
                  <a:srgbClr val="5E98F1"/>
                </a:solidFill>
                <a:latin typeface="Roboto" pitchFamily="34" charset="0"/>
                <a:ea typeface="Roboto" pitchFamily="34" charset="-122"/>
                <a:cs typeface="Roboto" pitchFamily="34" charset="-120"/>
              </a:rPr>
              <a:t>startup_failure_flag</a:t>
            </a:r>
            <a:endParaRPr lang="en-US" sz="1450" dirty="0"/>
          </a:p>
          <a:p>
            <a:pPr marL="0" indent="0" algn="l">
              <a:lnSpc>
                <a:spcPct val="133000"/>
              </a:lnSpc>
              <a:buNone/>
            </a:pPr>
            <a:r>
              <a:rPr lang="en-US" sz="1450" dirty="0">
                <a:solidFill>
                  <a:srgbClr val="15213F"/>
                </a:solidFill>
                <a:latin typeface="Roboto" pitchFamily="34" charset="0"/>
                <a:ea typeface="Roboto" pitchFamily="34" charset="-122"/>
                <a:cs typeface="Roboto" pitchFamily="34" charset="-120"/>
              </a:rPr>
              <a:t>is a binary classification target indicating whether a startup has failed, shut down operations, or entered bankruptcy within a specified observation period.</a:t>
            </a:r>
            <a:endParaRPr lang="en-US" sz="14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61475" y="588665"/>
            <a:ext cx="10868745" cy="341412"/>
          </a:xfrm>
          <a:prstGeom prst="rect">
            <a:avLst/>
          </a:prstGeom>
          <a:noFill/>
          <a:ln/>
        </p:spPr>
        <p:txBody>
          <a:bodyPr wrap="none" lIns="0" tIns="0" rIns="0" bIns="0" rtlCol="0" anchor="t"/>
          <a:lstStyle/>
          <a:p>
            <a:pPr marL="0" indent="0" algn="l">
              <a:lnSpc>
                <a:spcPct val="104000"/>
              </a:lnSpc>
              <a:buNone/>
            </a:pPr>
            <a:r>
              <a:rPr lang="en-US" sz="2150" dirty="0">
                <a:solidFill>
                  <a:srgbClr val="F9D933"/>
                </a:solidFill>
                <a:latin typeface="Roboto Slab" pitchFamily="34" charset="0"/>
                <a:ea typeface="Roboto Slab" pitchFamily="34" charset="-122"/>
                <a:cs typeface="Roboto Slab" pitchFamily="34" charset="-120"/>
              </a:rPr>
              <a:t>Columns Description</a:t>
            </a:r>
            <a:endParaRPr lang="en-US" sz="2150" dirty="0"/>
          </a:p>
        </p:txBody>
      </p:sp>
      <p:pic>
        <p:nvPicPr>
          <p:cNvPr id="3" name="Image 0" descr="preencoded.png"/>
          <p:cNvPicPr>
            <a:picLocks noChangeAspect="1"/>
          </p:cNvPicPr>
          <p:nvPr/>
        </p:nvPicPr>
        <p:blipFill>
          <a:blip r:embed="rId3"/>
          <a:stretch>
            <a:fillRect/>
          </a:stretch>
        </p:blipFill>
        <p:spPr>
          <a:xfrm>
            <a:off x="661475" y="1024830"/>
            <a:ext cx="6372165" cy="480824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61475" y="528737"/>
            <a:ext cx="10868745" cy="387648"/>
          </a:xfrm>
          <a:prstGeom prst="rect">
            <a:avLst/>
          </a:prstGeom>
          <a:noFill/>
          <a:ln/>
        </p:spPr>
        <p:txBody>
          <a:bodyPr wrap="none" lIns="0" tIns="0" rIns="0" bIns="0" rtlCol="0" anchor="t"/>
          <a:lstStyle/>
          <a:p>
            <a:pPr marL="0" indent="0" algn="l">
              <a:lnSpc>
                <a:spcPct val="104000"/>
              </a:lnSpc>
              <a:buNone/>
            </a:pPr>
            <a:r>
              <a:rPr lang="en-US" sz="2400" dirty="0">
                <a:solidFill>
                  <a:srgbClr val="F9D933"/>
                </a:solidFill>
                <a:latin typeface="Roboto Slab" pitchFamily="34" charset="0"/>
                <a:ea typeface="Roboto Slab" pitchFamily="34" charset="-122"/>
                <a:cs typeface="Roboto Slab" pitchFamily="34" charset="-120"/>
              </a:rPr>
              <a:t>Full ML Pipeline</a:t>
            </a:r>
            <a:endParaRPr lang="en-US" sz="2400" dirty="0"/>
          </a:p>
        </p:txBody>
      </p:sp>
      <p:pic>
        <p:nvPicPr>
          <p:cNvPr id="3" name="Image 0" descr="preencoded.png"/>
          <p:cNvPicPr>
            <a:picLocks noChangeAspect="1"/>
          </p:cNvPicPr>
          <p:nvPr/>
        </p:nvPicPr>
        <p:blipFill>
          <a:blip r:embed="rId3"/>
          <a:stretch>
            <a:fillRect/>
          </a:stretch>
        </p:blipFill>
        <p:spPr>
          <a:xfrm>
            <a:off x="661475" y="1130002"/>
            <a:ext cx="1993156" cy="5107583"/>
          </a:xfrm>
          <a:prstGeom prst="rect">
            <a:avLst/>
          </a:prstGeom>
        </p:spPr>
      </p:pic>
      <p:sp>
        <p:nvSpPr>
          <p:cNvPr id="4" name="Text 1"/>
          <p:cNvSpPr/>
          <p:nvPr/>
        </p:nvSpPr>
        <p:spPr>
          <a:xfrm>
            <a:off x="4019152" y="1111647"/>
            <a:ext cx="7517319" cy="1319808"/>
          </a:xfrm>
          <a:prstGeom prst="rect">
            <a:avLst/>
          </a:prstGeom>
          <a:noFill/>
          <a:ln/>
        </p:spPr>
        <p:txBody>
          <a:bodyPr wrap="square" lIns="0" tIns="0" rIns="0" bIns="0" rtlCol="0" anchor="t"/>
          <a:lstStyle/>
          <a:p>
            <a:pPr marL="0" indent="0" algn="l">
              <a:lnSpc>
                <a:spcPct val="110000"/>
              </a:lnSpc>
              <a:spcAft>
                <a:spcPts val="550"/>
              </a:spcAft>
              <a:buNone/>
            </a:pPr>
            <a:r>
              <a:rPr lang="en-US" sz="1200" b="1" dirty="0">
                <a:solidFill>
                  <a:srgbClr val="5CC97B"/>
                </a:solidFill>
                <a:latin typeface="Roboto Bold" pitchFamily="34" charset="0"/>
                <a:ea typeface="Roboto Bold" pitchFamily="34" charset="-122"/>
                <a:cs typeface="Roboto Bold" pitchFamily="34" charset="-120"/>
              </a:rPr>
              <a:t>Raw data passes through a 10-stage pipeline before reaching the model:</a:t>
            </a:r>
            <a:endParaRPr lang="en-US" sz="1200" dirty="0"/>
          </a:p>
          <a:p>
            <a:pPr marL="0" indent="0" algn="l">
              <a:lnSpc>
                <a:spcPct val="110000"/>
              </a:lnSpc>
              <a:spcAft>
                <a:spcPts val="550"/>
              </a:spcAft>
              <a:buNone/>
            </a:pPr>
            <a:r>
              <a:rPr lang="en-US" sz="1200" dirty="0">
                <a:solidFill>
                  <a:srgbClr val="FBFCFE"/>
                </a:solidFill>
                <a:latin typeface="Roboto" pitchFamily="34" charset="0"/>
                <a:ea typeface="Roboto" pitchFamily="34" charset="-122"/>
                <a:cs typeface="Roboto" pitchFamily="34" charset="-120"/>
              </a:rPr>
              <a:t> exploratory analysis surfaces initial patterns, </a:t>
            </a:r>
            <a:endParaRPr lang="en-US" sz="1200" dirty="0"/>
          </a:p>
          <a:p>
            <a:pPr marL="0" indent="0" algn="l">
              <a:lnSpc>
                <a:spcPct val="110000"/>
              </a:lnSpc>
              <a:spcAft>
                <a:spcPts val="550"/>
              </a:spcAft>
              <a:buNone/>
            </a:pPr>
            <a:r>
              <a:rPr lang="en-US" sz="1200" dirty="0">
                <a:solidFill>
                  <a:srgbClr val="FBFCFE"/>
                </a:solidFill>
                <a:latin typeface="Roboto" pitchFamily="34" charset="0"/>
                <a:ea typeface="Roboto" pitchFamily="34" charset="-122"/>
                <a:cs typeface="Roboto" pitchFamily="34" charset="-120"/>
              </a:rPr>
              <a:t>leakage removal and outlier treatment clean the signal,</a:t>
            </a:r>
            <a:endParaRPr lang="en-US" sz="1200" dirty="0"/>
          </a:p>
          <a:p>
            <a:pPr marL="0" indent="0" algn="l">
              <a:lnSpc>
                <a:spcPct val="110000"/>
              </a:lnSpc>
              <a:spcAft>
                <a:spcPts val="550"/>
              </a:spcAft>
              <a:buNone/>
            </a:pPr>
            <a:r>
              <a:rPr lang="en-US" sz="1200" dirty="0">
                <a:solidFill>
                  <a:srgbClr val="FBFCFE"/>
                </a:solidFill>
                <a:latin typeface="Roboto" pitchFamily="34" charset="0"/>
                <a:ea typeface="Roboto" pitchFamily="34" charset="-122"/>
                <a:cs typeface="Roboto" pitchFamily="34" charset="-120"/>
              </a:rPr>
              <a:t> log transformation and one-hot encoding prepare features for learning, and after splitting the data,</a:t>
            </a:r>
            <a:endParaRPr lang="en-US" sz="1200" dirty="0"/>
          </a:p>
          <a:p>
            <a:pPr marL="0" indent="0" algn="l">
              <a:lnSpc>
                <a:spcPct val="110000"/>
              </a:lnSpc>
              <a:buNone/>
            </a:pPr>
            <a:r>
              <a:rPr lang="en-US" sz="1200" dirty="0">
                <a:solidFill>
                  <a:srgbClr val="FBFCFE"/>
                </a:solidFill>
                <a:latin typeface="Roboto" pitchFamily="34" charset="0"/>
                <a:ea typeface="Roboto" pitchFamily="34" charset="-122"/>
                <a:cs typeface="Roboto" pitchFamily="34" charset="-120"/>
              </a:rPr>
              <a:t> robust scaling and SMOTETomek balance the classes — leaving a fully model-ready dataset.</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61475" y="1524298"/>
            <a:ext cx="5112515" cy="428228"/>
          </a:xfrm>
          <a:prstGeom prst="rect">
            <a:avLst/>
          </a:prstGeom>
          <a:noFill/>
          <a:ln/>
        </p:spPr>
        <p:txBody>
          <a:bodyPr wrap="none" lIns="0" tIns="0" rIns="0" bIns="0" rtlCol="0" anchor="t"/>
          <a:lstStyle/>
          <a:p>
            <a:pPr marL="0" indent="0" algn="l">
              <a:lnSpc>
                <a:spcPct val="104000"/>
              </a:lnSpc>
              <a:buNone/>
            </a:pPr>
            <a:r>
              <a:rPr lang="en-US" sz="2650" dirty="0">
                <a:solidFill>
                  <a:srgbClr val="F9D933"/>
                </a:solidFill>
                <a:latin typeface="Roboto Slab" pitchFamily="34" charset="0"/>
                <a:ea typeface="Roboto Slab" pitchFamily="34" charset="-122"/>
                <a:cs typeface="Roboto Slab" pitchFamily="34" charset="-120"/>
              </a:rPr>
              <a:t>Exploratory Data Analysis</a:t>
            </a:r>
            <a:endParaRPr lang="en-US" sz="2650" dirty="0"/>
          </a:p>
        </p:txBody>
      </p:sp>
      <p:sp>
        <p:nvSpPr>
          <p:cNvPr id="3" name="Text 1"/>
          <p:cNvSpPr/>
          <p:nvPr/>
        </p:nvSpPr>
        <p:spPr>
          <a:xfrm>
            <a:off x="661475" y="2107704"/>
            <a:ext cx="5112515" cy="1044972"/>
          </a:xfrm>
          <a:prstGeom prst="rect">
            <a:avLst/>
          </a:prstGeom>
          <a:noFill/>
          <a:ln/>
        </p:spPr>
        <p:txBody>
          <a:bodyPr wrap="square" lIns="0" tIns="0" rIns="0" bIns="0" rtlCol="0" anchor="t">
            <a:normAutofit/>
          </a:bodyPr>
          <a:lstStyle/>
          <a:p>
            <a:pPr marL="0" indent="0" algn="l">
              <a:lnSpc>
                <a:spcPct val="127000"/>
              </a:lnSpc>
              <a:buNone/>
            </a:pPr>
            <a:r>
              <a:rPr lang="en-US" sz="1300" b="1" dirty="0">
                <a:solidFill>
                  <a:srgbClr val="FBFCFE"/>
                </a:solidFill>
                <a:latin typeface="Roboto Bold" pitchFamily="34" charset="0"/>
                <a:ea typeface="Roboto Bold" pitchFamily="34" charset="-122"/>
                <a:cs typeface="Roboto Bold" pitchFamily="34" charset="-120"/>
              </a:rPr>
              <a:t>Understanding the Data Before Modeling</a:t>
            </a:r>
            <a:endParaRPr lang="en-US" sz="1300" dirty="0"/>
          </a:p>
          <a:p>
            <a:pPr marL="0" indent="0" algn="l">
              <a:lnSpc>
                <a:spcPct val="127000"/>
              </a:lnSpc>
              <a:buNone/>
            </a:pPr>
            <a:r>
              <a:rPr lang="en-US" sz="1300" dirty="0">
                <a:solidFill>
                  <a:srgbClr val="FBFCFE"/>
                </a:solidFill>
                <a:latin typeface="Roboto" pitchFamily="34" charset="0"/>
                <a:ea typeface="Roboto" pitchFamily="34" charset="-122"/>
                <a:cs typeface="Roboto" pitchFamily="34" charset="-120"/>
              </a:rPr>
              <a:t>We explored the dataset to identify distributions, relationships, patterns, and potential factors associated with startup failure and founder burnout.</a:t>
            </a:r>
            <a:endParaRPr lang="en-US" sz="1300" dirty="0"/>
          </a:p>
        </p:txBody>
      </p:sp>
      <p:sp>
        <p:nvSpPr>
          <p:cNvPr id="4" name="Text 2"/>
          <p:cNvSpPr/>
          <p:nvPr/>
        </p:nvSpPr>
        <p:spPr>
          <a:xfrm>
            <a:off x="661475" y="3292376"/>
            <a:ext cx="5722100" cy="326430"/>
          </a:xfrm>
          <a:prstGeom prst="rect">
            <a:avLst/>
          </a:prstGeom>
          <a:noFill/>
          <a:ln/>
        </p:spPr>
        <p:txBody>
          <a:bodyPr wrap="none" lIns="0" tIns="0" rIns="0" bIns="0" rtlCol="0" anchor="t"/>
          <a:lstStyle/>
          <a:p>
            <a:pPr marL="0" indent="0" algn="l">
              <a:lnSpc>
                <a:spcPct val="127000"/>
              </a:lnSpc>
              <a:buNone/>
            </a:pPr>
            <a:r>
              <a:rPr lang="en-US" sz="1650" dirty="0">
                <a:solidFill>
                  <a:srgbClr val="5CC97B"/>
                </a:solidFill>
                <a:latin typeface="Roboto" pitchFamily="34" charset="0"/>
                <a:ea typeface="Roboto" pitchFamily="34" charset="-122"/>
                <a:cs typeface="Roboto" pitchFamily="34" charset="-120"/>
              </a:rPr>
              <a:t>comments:</a:t>
            </a:r>
            <a:endParaRPr lang="en-US" sz="1650" dirty="0"/>
          </a:p>
        </p:txBody>
      </p:sp>
      <p:sp>
        <p:nvSpPr>
          <p:cNvPr id="5" name="Text 3"/>
          <p:cNvSpPr/>
          <p:nvPr/>
        </p:nvSpPr>
        <p:spPr>
          <a:xfrm>
            <a:off x="661475" y="3758505"/>
            <a:ext cx="5112515" cy="1676003"/>
          </a:xfrm>
          <a:prstGeom prst="rect">
            <a:avLst/>
          </a:prstGeom>
          <a:noFill/>
          <a:ln/>
        </p:spPr>
        <p:txBody>
          <a:bodyPr wrap="square" lIns="0" tIns="0" rIns="0" bIns="0" rtlCol="0" anchor="t">
            <a:normAutofit/>
          </a:bodyPr>
          <a:lstStyle/>
          <a:p>
            <a:pPr marL="264160" indent="-264160" algn="l">
              <a:lnSpc>
                <a:spcPct val="127000"/>
              </a:lnSpc>
              <a:buSzPct val="100000"/>
              <a:buChar char="•"/>
            </a:pPr>
            <a:r>
              <a:rPr lang="en-US" sz="1300" b="1" dirty="0">
                <a:solidFill>
                  <a:srgbClr val="FBFCFE"/>
                </a:solidFill>
                <a:latin typeface="Roboto Bold" pitchFamily="34" charset="0"/>
                <a:ea typeface="Roboto Bold" pitchFamily="34" charset="-122"/>
                <a:cs typeface="Roboto Bold" pitchFamily="34" charset="-120"/>
              </a:rPr>
              <a:t>Zero Missing Values:</a:t>
            </a:r>
            <a:r>
              <a:rPr lang="en-US" sz="1300" dirty="0">
                <a:solidFill>
                  <a:srgbClr val="FBFCFE"/>
                </a:solidFill>
                <a:latin typeface="Roboto" pitchFamily="34" charset="0"/>
                <a:ea typeface="Roboto" pitchFamily="34" charset="-122"/>
                <a:cs typeface="Roboto" pitchFamily="34" charset="-120"/>
              </a:rPr>
              <a:t> Data is 100% complete across all 50,000 records; no null imputation required.</a:t>
            </a:r>
            <a:endParaRPr lang="en-US" sz="1300" dirty="0"/>
          </a:p>
          <a:p>
            <a:pPr marL="264160" indent="-264160" algn="l">
              <a:lnSpc>
                <a:spcPct val="127000"/>
              </a:lnSpc>
              <a:buSzPct val="100000"/>
              <a:buChar char="•"/>
            </a:pPr>
            <a:r>
              <a:rPr lang="en-US" sz="1300" b="1" dirty="0">
                <a:solidFill>
                  <a:srgbClr val="FBFCFE"/>
                </a:solidFill>
                <a:latin typeface="Roboto Bold" pitchFamily="34" charset="0"/>
                <a:ea typeface="Roboto Bold" pitchFamily="34" charset="-122"/>
                <a:cs typeface="Roboto Bold" pitchFamily="34" charset="-120"/>
              </a:rPr>
              <a:t>Feature Schema:</a:t>
            </a:r>
            <a:r>
              <a:rPr lang="en-US" sz="1300" dirty="0">
                <a:solidFill>
                  <a:srgbClr val="FBFCFE"/>
                </a:solidFill>
                <a:latin typeface="Roboto" pitchFamily="34" charset="0"/>
                <a:ea typeface="Roboto" pitchFamily="34" charset="-122"/>
                <a:cs typeface="Roboto" pitchFamily="34" charset="-120"/>
              </a:rPr>
              <a:t> Contains 21 numerical features (financial &amp; psychological metrics) and 8 categorical features .</a:t>
            </a:r>
            <a:endParaRPr lang="en-US" sz="1300" dirty="0"/>
          </a:p>
          <a:p>
            <a:pPr marL="264160" indent="-264160" algn="l">
              <a:lnSpc>
                <a:spcPct val="127000"/>
              </a:lnSpc>
              <a:buSzPct val="100000"/>
              <a:buChar char="•"/>
            </a:pPr>
            <a:r>
              <a:rPr lang="en-US" sz="1300" b="1" dirty="0">
                <a:solidFill>
                  <a:srgbClr val="FBFCFE"/>
                </a:solidFill>
                <a:latin typeface="Roboto Bold" pitchFamily="34" charset="0"/>
                <a:ea typeface="Roboto Bold" pitchFamily="34" charset="-122"/>
                <a:cs typeface="Roboto Bold" pitchFamily="34" charset="-120"/>
              </a:rPr>
              <a:t>Preprocessing Need:</a:t>
            </a:r>
            <a:r>
              <a:rPr lang="en-US" sz="1300" dirty="0">
                <a:solidFill>
                  <a:srgbClr val="FBFCFE"/>
                </a:solidFill>
                <a:latin typeface="Roboto" pitchFamily="34" charset="0"/>
                <a:ea typeface="Roboto" pitchFamily="34" charset="-122"/>
                <a:cs typeface="Roboto" pitchFamily="34" charset="-120"/>
              </a:rPr>
              <a:t> Categorical variables  must be encoded  before model training.</a:t>
            </a:r>
            <a:endParaRPr lang="en-US" sz="1300" dirty="0"/>
          </a:p>
        </p:txBody>
      </p:sp>
      <p:pic>
        <p:nvPicPr>
          <p:cNvPr id="6" name="Image 0" descr="preencoded.png"/>
          <p:cNvPicPr>
            <a:picLocks noChangeAspect="1"/>
          </p:cNvPicPr>
          <p:nvPr/>
        </p:nvPicPr>
        <p:blipFill>
          <a:blip r:embed="rId3"/>
          <a:stretch>
            <a:fillRect/>
          </a:stretch>
        </p:blipFill>
        <p:spPr>
          <a:xfrm>
            <a:off x="6198239" y="905073"/>
            <a:ext cx="5204191" cy="5222478"/>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61475" y="628055"/>
            <a:ext cx="10868745" cy="590649"/>
          </a:xfrm>
          <a:prstGeom prst="rect">
            <a:avLst/>
          </a:prstGeom>
          <a:noFill/>
          <a:ln/>
        </p:spPr>
        <p:txBody>
          <a:bodyPr wrap="none" lIns="0" tIns="0" rIns="0" bIns="0" rtlCol="0" anchor="t"/>
          <a:lstStyle/>
          <a:p>
            <a:pPr marL="0" indent="0" algn="l">
              <a:lnSpc>
                <a:spcPct val="104000"/>
              </a:lnSpc>
              <a:buNone/>
            </a:pPr>
            <a:r>
              <a:rPr lang="en-US" sz="3700" dirty="0">
                <a:solidFill>
                  <a:srgbClr val="F9D933"/>
                </a:solidFill>
                <a:latin typeface="Roboto Slab" pitchFamily="34" charset="0"/>
                <a:ea typeface="Roboto Slab" pitchFamily="34" charset="-122"/>
                <a:cs typeface="Roboto Slab" pitchFamily="34" charset="-120"/>
              </a:rPr>
              <a:t>Data Distributions</a:t>
            </a:r>
            <a:endParaRPr lang="en-US" sz="3700" dirty="0"/>
          </a:p>
        </p:txBody>
      </p:sp>
      <p:pic>
        <p:nvPicPr>
          <p:cNvPr id="3" name="Image 0" descr="preencoded.png"/>
          <p:cNvPicPr>
            <a:picLocks noChangeAspect="1"/>
          </p:cNvPicPr>
          <p:nvPr/>
        </p:nvPicPr>
        <p:blipFill>
          <a:blip r:embed="rId3"/>
          <a:stretch>
            <a:fillRect/>
          </a:stretch>
        </p:blipFill>
        <p:spPr>
          <a:xfrm>
            <a:off x="661475" y="1502172"/>
            <a:ext cx="10868745" cy="421263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661475" y="721221"/>
            <a:ext cx="6842946" cy="4952405"/>
          </a:xfrm>
          <a:prstGeom prst="rect">
            <a:avLst/>
          </a:prstGeom>
        </p:spPr>
      </p:pic>
      <p:sp>
        <p:nvSpPr>
          <p:cNvPr id="3" name="Text 0"/>
          <p:cNvSpPr/>
          <p:nvPr/>
        </p:nvSpPr>
        <p:spPr>
          <a:xfrm>
            <a:off x="9003876" y="689868"/>
            <a:ext cx="3142179" cy="302022"/>
          </a:xfrm>
          <a:prstGeom prst="rect">
            <a:avLst/>
          </a:prstGeom>
          <a:noFill/>
          <a:ln/>
        </p:spPr>
        <p:txBody>
          <a:bodyPr wrap="none" lIns="0" tIns="0" rIns="0" bIns="0" rtlCol="0" anchor="t"/>
          <a:lstStyle/>
          <a:p>
            <a:pPr marL="0" indent="0" algn="l">
              <a:lnSpc>
                <a:spcPct val="124000"/>
              </a:lnSpc>
              <a:buNone/>
            </a:pPr>
            <a:r>
              <a:rPr lang="en-US" sz="1550" dirty="0">
                <a:solidFill>
                  <a:srgbClr val="5E98F1"/>
                </a:solidFill>
                <a:latin typeface="Roboto" pitchFamily="34" charset="0"/>
                <a:ea typeface="Roboto" pitchFamily="34" charset="-122"/>
                <a:cs typeface="Roboto" pitchFamily="34" charset="-120"/>
              </a:rPr>
              <a:t>Description</a:t>
            </a:r>
            <a:endParaRPr lang="en-US" sz="1550" dirty="0"/>
          </a:p>
        </p:txBody>
      </p:sp>
      <p:sp>
        <p:nvSpPr>
          <p:cNvPr id="4" name="Text 1"/>
          <p:cNvSpPr/>
          <p:nvPr/>
        </p:nvSpPr>
        <p:spPr>
          <a:xfrm>
            <a:off x="9003876" y="1117501"/>
            <a:ext cx="2532594" cy="1449586"/>
          </a:xfrm>
          <a:prstGeom prst="rect">
            <a:avLst/>
          </a:prstGeom>
          <a:noFill/>
          <a:ln/>
        </p:spPr>
        <p:txBody>
          <a:bodyPr wrap="square" lIns="0" tIns="0" rIns="0" bIns="0" rtlCol="0" anchor="t">
            <a:normAutofit/>
          </a:bodyPr>
          <a:lstStyle/>
          <a:p>
            <a:pPr marL="0" indent="0" algn="l">
              <a:lnSpc>
                <a:spcPct val="124000"/>
              </a:lnSpc>
              <a:buNone/>
            </a:pPr>
            <a:r>
              <a:rPr lang="en-US" sz="1250" dirty="0">
                <a:solidFill>
                  <a:srgbClr val="FBFCFE"/>
                </a:solidFill>
                <a:latin typeface="Roboto" pitchFamily="34" charset="0"/>
                <a:ea typeface="Roboto" pitchFamily="34" charset="-122"/>
                <a:cs typeface="Roboto" pitchFamily="34" charset="-120"/>
              </a:rPr>
              <a:t>Visual analysis of feature distributions revealing dataset imbalances, highly skewed variables, and critical mental health vs. business outcome patterns.</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661475" y="354350"/>
            <a:ext cx="5481699" cy="4874716"/>
          </a:xfrm>
          <a:prstGeom prst="rect">
            <a:avLst/>
          </a:prstGeom>
        </p:spPr>
      </p:pic>
      <p:sp>
        <p:nvSpPr>
          <p:cNvPr id="3" name="Text 0"/>
          <p:cNvSpPr/>
          <p:nvPr/>
        </p:nvSpPr>
        <p:spPr>
          <a:xfrm>
            <a:off x="8078883" y="648395"/>
            <a:ext cx="4067172" cy="262930"/>
          </a:xfrm>
          <a:prstGeom prst="rect">
            <a:avLst/>
          </a:prstGeom>
          <a:noFill/>
          <a:ln/>
        </p:spPr>
        <p:txBody>
          <a:bodyPr wrap="none" lIns="0" tIns="0" rIns="0" bIns="0" rtlCol="0" anchor="t"/>
          <a:lstStyle/>
          <a:p>
            <a:pPr marL="0" indent="0" algn="l">
              <a:lnSpc>
                <a:spcPct val="119000"/>
              </a:lnSpc>
              <a:buNone/>
            </a:pPr>
            <a:r>
              <a:rPr lang="en-US" sz="1450" dirty="0">
                <a:solidFill>
                  <a:srgbClr val="5E98F1"/>
                </a:solidFill>
                <a:latin typeface="Roboto" pitchFamily="34" charset="0"/>
                <a:ea typeface="Roboto" pitchFamily="34" charset="-122"/>
                <a:cs typeface="Roboto" pitchFamily="34" charset="-120"/>
              </a:rPr>
              <a:t>Description</a:t>
            </a:r>
            <a:endParaRPr lang="en-US" sz="1450" dirty="0"/>
          </a:p>
        </p:txBody>
      </p:sp>
      <p:sp>
        <p:nvSpPr>
          <p:cNvPr id="4" name="Text 1"/>
          <p:cNvSpPr/>
          <p:nvPr/>
        </p:nvSpPr>
        <p:spPr>
          <a:xfrm>
            <a:off x="8078883" y="1015107"/>
            <a:ext cx="3457588" cy="2815034"/>
          </a:xfrm>
          <a:prstGeom prst="rect">
            <a:avLst/>
          </a:prstGeom>
          <a:noFill/>
          <a:ln/>
        </p:spPr>
        <p:txBody>
          <a:bodyPr wrap="square" lIns="0" tIns="0" rIns="0" bIns="0" rtlCol="0" anchor="t">
            <a:normAutofit/>
          </a:bodyPr>
          <a:lstStyle/>
          <a:p>
            <a:pPr marL="233680" indent="-233680" algn="l">
              <a:lnSpc>
                <a:spcPct val="119000"/>
              </a:lnSpc>
              <a:buSzPct val="100000"/>
              <a:buChar char="•"/>
            </a:pPr>
            <a:r>
              <a:rPr lang="en-US" sz="1150" b="1" dirty="0">
                <a:solidFill>
                  <a:srgbClr val="FBFCFE"/>
                </a:solidFill>
                <a:latin typeface="Roboto Bold" pitchFamily="34" charset="0"/>
                <a:ea typeface="Roboto Bold" pitchFamily="34" charset="-122"/>
                <a:cs typeface="Roboto Bold" pitchFamily="34" charset="-120"/>
              </a:rPr>
              <a:t>Key Failure Drivers:</a:t>
            </a:r>
            <a:r>
              <a:rPr lang="en-US" sz="1150" dirty="0">
                <a:solidFill>
                  <a:srgbClr val="FBFCFE"/>
                </a:solidFill>
                <a:latin typeface="Roboto" pitchFamily="34" charset="0"/>
                <a:ea typeface="Roboto" pitchFamily="34" charset="-122"/>
                <a:cs typeface="Roboto" pitchFamily="34" charset="-120"/>
              </a:rPr>
              <a:t> Shutdown_Probability(+0.82), </a:t>
            </a:r>
            <a:r>
              <a:rPr lang="en-US" sz="1150" dirty="0">
                <a:solidFill>
                  <a:srgbClr val="FFFFFF"/>
                </a:solidFill>
                <a:latin typeface="Roboto" pitchFamily="34" charset="0"/>
                <a:ea typeface="Roboto" pitchFamily="34" charset="-122"/>
                <a:cs typeface="Roboto" pitchFamily="34" charset="-120"/>
              </a:rPr>
              <a:t>Burnout_Score </a:t>
            </a:r>
            <a:r>
              <a:rPr lang="en-US" sz="1150" dirty="0">
                <a:solidFill>
                  <a:srgbClr val="FBFCFE"/>
                </a:solidFill>
                <a:latin typeface="Roboto" pitchFamily="34" charset="0"/>
                <a:ea typeface="Roboto" pitchFamily="34" charset="-122"/>
                <a:cs typeface="Roboto" pitchFamily="34" charset="-120"/>
              </a:rPr>
              <a:t>(+0.51), and Employee_Turnover_Percent (+0.45) are the strongest indicators of startup collapse.</a:t>
            </a:r>
            <a:endParaRPr lang="en-US" sz="1150" dirty="0"/>
          </a:p>
          <a:p>
            <a:pPr marL="233680" indent="-233680" algn="l">
              <a:lnSpc>
                <a:spcPct val="119000"/>
              </a:lnSpc>
              <a:buSzPct val="100000"/>
              <a:buChar char="•"/>
            </a:pPr>
            <a:r>
              <a:rPr lang="en-US" sz="1150" b="1" dirty="0">
                <a:solidFill>
                  <a:srgbClr val="FBFCFE"/>
                </a:solidFill>
                <a:latin typeface="Roboto Bold" pitchFamily="34" charset="0"/>
                <a:ea typeface="Roboto Bold" pitchFamily="34" charset="-122"/>
                <a:cs typeface="Roboto Bold" pitchFamily="34" charset="-120"/>
              </a:rPr>
              <a:t>Founder Well-being Impact:</a:t>
            </a:r>
            <a:r>
              <a:rPr lang="en-US" sz="1150" dirty="0">
                <a:solidFill>
                  <a:srgbClr val="FBFCFE"/>
                </a:solidFill>
                <a:latin typeface="Roboto" pitchFamily="34" charset="0"/>
                <a:ea typeface="Roboto" pitchFamily="34" charset="-122"/>
                <a:cs typeface="Roboto" pitchFamily="34" charset="-120"/>
              </a:rPr>
              <a:t> </a:t>
            </a:r>
            <a:r>
              <a:rPr lang="en-US" sz="1150" dirty="0">
                <a:solidFill>
                  <a:srgbClr val="FFFFFF"/>
                </a:solidFill>
                <a:latin typeface="Roboto" pitchFamily="34" charset="0"/>
                <a:ea typeface="Roboto" pitchFamily="34" charset="-122"/>
                <a:cs typeface="Roboto" pitchFamily="34" charset="-120"/>
              </a:rPr>
              <a:t>Employee_Turnover_Percent </a:t>
            </a:r>
            <a:r>
              <a:rPr lang="en-US" sz="1150" dirty="0">
                <a:solidFill>
                  <a:srgbClr val="FBFCFE"/>
                </a:solidFill>
                <a:latin typeface="Roboto" pitchFamily="34" charset="0"/>
                <a:ea typeface="Roboto" pitchFamily="34" charset="-122"/>
                <a:cs typeface="Roboto" pitchFamily="34" charset="-120"/>
              </a:rPr>
              <a:t>(-0.92) is the primary buffer against burnout, while </a:t>
            </a:r>
            <a:r>
              <a:rPr lang="en-US" sz="1150" dirty="0">
                <a:solidFill>
                  <a:srgbClr val="FFFFFF"/>
                </a:solidFill>
                <a:latin typeface="Roboto" pitchFamily="34" charset="0"/>
                <a:ea typeface="Roboto" pitchFamily="34" charset="-122"/>
                <a:cs typeface="Roboto" pitchFamily="34" charset="-120"/>
              </a:rPr>
              <a:t>Stress_Score</a:t>
            </a:r>
            <a:r>
              <a:rPr lang="en-US" sz="1150" dirty="0">
                <a:solidFill>
                  <a:srgbClr val="FBFCFE"/>
                </a:solidFill>
                <a:latin typeface="Roboto" pitchFamily="34" charset="0"/>
                <a:ea typeface="Roboto" pitchFamily="34" charset="-122"/>
                <a:cs typeface="Roboto" pitchFamily="34" charset="-120"/>
              </a:rPr>
              <a:t> &amp; </a:t>
            </a:r>
            <a:r>
              <a:rPr lang="en-US" sz="1150" dirty="0">
                <a:solidFill>
                  <a:srgbClr val="FFFFFF"/>
                </a:solidFill>
                <a:latin typeface="Roboto" pitchFamily="34" charset="0"/>
                <a:ea typeface="Roboto" pitchFamily="34" charset="-122"/>
                <a:cs typeface="Roboto" pitchFamily="34" charset="-120"/>
              </a:rPr>
              <a:t>Decision_Fatigue </a:t>
            </a:r>
            <a:r>
              <a:rPr lang="en-US" sz="1150" dirty="0">
                <a:solidFill>
                  <a:srgbClr val="FBFCFE"/>
                </a:solidFill>
                <a:latin typeface="Roboto" pitchFamily="34" charset="0"/>
                <a:ea typeface="Roboto" pitchFamily="34" charset="-122"/>
                <a:cs typeface="Roboto" pitchFamily="34" charset="-120"/>
              </a:rPr>
              <a:t>(+0.82) show high collinearity.</a:t>
            </a:r>
            <a:endParaRPr lang="en-US" sz="1150" dirty="0"/>
          </a:p>
          <a:p>
            <a:pPr marL="233680" indent="-233680" algn="l">
              <a:lnSpc>
                <a:spcPct val="119000"/>
              </a:lnSpc>
              <a:buSzPct val="100000"/>
              <a:buChar char="•"/>
            </a:pPr>
            <a:r>
              <a:rPr lang="en-US" sz="1150" b="1" dirty="0">
                <a:solidFill>
                  <a:srgbClr val="FBFCFE"/>
                </a:solidFill>
                <a:latin typeface="Roboto Bold" pitchFamily="34" charset="0"/>
                <a:ea typeface="Roboto Bold" pitchFamily="34" charset="-122"/>
                <a:cs typeface="Roboto Bold" pitchFamily="34" charset="-120"/>
              </a:rPr>
              <a:t>Risk Mitigators:</a:t>
            </a:r>
            <a:r>
              <a:rPr lang="en-US" sz="1150" dirty="0">
                <a:solidFill>
                  <a:srgbClr val="FBFCFE"/>
                </a:solidFill>
                <a:latin typeface="Roboto" pitchFamily="34" charset="0"/>
                <a:ea typeface="Roboto" pitchFamily="34" charset="-122"/>
                <a:cs typeface="Roboto" pitchFamily="34" charset="-120"/>
              </a:rPr>
              <a:t> </a:t>
            </a:r>
            <a:r>
              <a:rPr lang="en-US" sz="1150" dirty="0">
                <a:solidFill>
                  <a:srgbClr val="FFFFFF"/>
                </a:solidFill>
                <a:latin typeface="Roboto" pitchFamily="34" charset="0"/>
                <a:ea typeface="Roboto" pitchFamily="34" charset="-122"/>
                <a:cs typeface="Roboto" pitchFamily="34" charset="-120"/>
              </a:rPr>
              <a:t>Product_Market_Fit_Score </a:t>
            </a:r>
            <a:r>
              <a:rPr lang="en-US" sz="1150" dirty="0">
                <a:solidFill>
                  <a:srgbClr val="FBFCFE"/>
                </a:solidFill>
                <a:latin typeface="Roboto" pitchFamily="34" charset="0"/>
                <a:ea typeface="Roboto" pitchFamily="34" charset="-122"/>
                <a:cs typeface="Roboto" pitchFamily="34" charset="-120"/>
              </a:rPr>
              <a:t>(-0.39) and </a:t>
            </a:r>
            <a:r>
              <a:rPr lang="en-US" sz="1150" dirty="0">
                <a:solidFill>
                  <a:srgbClr val="FFFFFF"/>
                </a:solidFill>
                <a:latin typeface="Roboto" pitchFamily="34" charset="0"/>
                <a:ea typeface="Roboto" pitchFamily="34" charset="-122"/>
                <a:cs typeface="Roboto" pitchFamily="34" charset="-120"/>
              </a:rPr>
              <a:t>Runway_Months_Remaining </a:t>
            </a:r>
            <a:r>
              <a:rPr lang="en-US" sz="1150" dirty="0">
                <a:solidFill>
                  <a:srgbClr val="FBFCFE"/>
                </a:solidFill>
                <a:latin typeface="Roboto" pitchFamily="34" charset="0"/>
                <a:ea typeface="Roboto" pitchFamily="34" charset="-122"/>
                <a:cs typeface="Roboto" pitchFamily="34" charset="-120"/>
              </a:rPr>
              <a:t>(-0.38) serve as core financial and operational buffers against failure.</a:t>
            </a:r>
            <a:endParaRPr lang="en-US" sz="11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661475" y="721420"/>
            <a:ext cx="7122141" cy="4731643"/>
          </a:xfrm>
          <a:prstGeom prst="rect">
            <a:avLst/>
          </a:prstGeom>
        </p:spPr>
      </p:pic>
      <p:sp>
        <p:nvSpPr>
          <p:cNvPr id="3" name="Text 0"/>
          <p:cNvSpPr/>
          <p:nvPr/>
        </p:nvSpPr>
        <p:spPr>
          <a:xfrm>
            <a:off x="9668228" y="692249"/>
            <a:ext cx="2477827" cy="286147"/>
          </a:xfrm>
          <a:prstGeom prst="rect">
            <a:avLst/>
          </a:prstGeom>
          <a:noFill/>
          <a:ln/>
        </p:spPr>
        <p:txBody>
          <a:bodyPr wrap="none" lIns="0" tIns="0" rIns="0" bIns="0" rtlCol="0" anchor="t"/>
          <a:lstStyle/>
          <a:p>
            <a:pPr marL="0" indent="0" algn="l">
              <a:lnSpc>
                <a:spcPct val="122000"/>
              </a:lnSpc>
              <a:buNone/>
            </a:pPr>
            <a:r>
              <a:rPr lang="en-US" sz="1500" dirty="0">
                <a:solidFill>
                  <a:srgbClr val="5E98F1"/>
                </a:solidFill>
                <a:latin typeface="Roboto" pitchFamily="34" charset="0"/>
                <a:ea typeface="Roboto" pitchFamily="34" charset="-122"/>
                <a:cs typeface="Roboto" pitchFamily="34" charset="-120"/>
              </a:rPr>
              <a:t>Description</a:t>
            </a:r>
            <a:endParaRPr lang="en-US" sz="1500" dirty="0"/>
          </a:p>
        </p:txBody>
      </p:sp>
      <p:sp>
        <p:nvSpPr>
          <p:cNvPr id="4" name="Text 1"/>
          <p:cNvSpPr/>
          <p:nvPr/>
        </p:nvSpPr>
        <p:spPr>
          <a:xfrm>
            <a:off x="9668228" y="1094978"/>
            <a:ext cx="1868242" cy="3981946"/>
          </a:xfrm>
          <a:prstGeom prst="rect">
            <a:avLst/>
          </a:prstGeom>
          <a:noFill/>
          <a:ln/>
        </p:spPr>
        <p:txBody>
          <a:bodyPr wrap="square" lIns="0" tIns="0" rIns="0" bIns="0" rtlCol="0" anchor="t">
            <a:normAutofit/>
          </a:bodyPr>
          <a:lstStyle/>
          <a:p>
            <a:pPr marL="243840" indent="-243840" algn="l">
              <a:lnSpc>
                <a:spcPct val="122000"/>
              </a:lnSpc>
              <a:buSzPct val="100000"/>
              <a:buChar char="•"/>
            </a:pPr>
            <a:r>
              <a:rPr lang="en-US" sz="1200" b="1" dirty="0">
                <a:solidFill>
                  <a:srgbClr val="FFFFFF"/>
                </a:solidFill>
                <a:latin typeface="Roboto Bold" pitchFamily="34" charset="0"/>
                <a:ea typeface="Roboto Bold" pitchFamily="34" charset="-122"/>
                <a:cs typeface="Roboto Bold" pitchFamily="34" charset="-120"/>
              </a:rPr>
              <a:t>Elevated Psychological Risk:</a:t>
            </a:r>
            <a:r>
              <a:rPr lang="en-US" sz="1200" dirty="0">
                <a:solidFill>
                  <a:srgbClr val="FFFFFF"/>
                </a:solidFill>
                <a:latin typeface="Roboto" pitchFamily="34" charset="0"/>
                <a:ea typeface="Roboto" pitchFamily="34" charset="-122"/>
                <a:cs typeface="Roboto" pitchFamily="34" charset="-120"/>
              </a:rPr>
              <a:t> Failed startups show significantly higher burnout, stress, and decision fatigue scores.</a:t>
            </a:r>
            <a:endParaRPr lang="en-US" sz="1200" dirty="0"/>
          </a:p>
          <a:p>
            <a:pPr marL="243840" indent="-243840" algn="l">
              <a:lnSpc>
                <a:spcPct val="122000"/>
              </a:lnSpc>
              <a:buSzPct val="100000"/>
              <a:buChar char="•"/>
            </a:pPr>
            <a:r>
              <a:rPr lang="en-US" sz="1200" b="1" dirty="0">
                <a:solidFill>
                  <a:srgbClr val="FFFFFF"/>
                </a:solidFill>
                <a:latin typeface="Roboto Bold" pitchFamily="34" charset="0"/>
                <a:ea typeface="Roboto Bold" pitchFamily="34" charset="-122"/>
                <a:cs typeface="Roboto Bold" pitchFamily="34" charset="-120"/>
              </a:rPr>
              <a:t>Operational Overload:</a:t>
            </a:r>
            <a:r>
              <a:rPr lang="en-US" sz="1200" dirty="0">
                <a:solidFill>
                  <a:srgbClr val="FFFFFF"/>
                </a:solidFill>
                <a:latin typeface="Roboto" pitchFamily="34" charset="0"/>
                <a:ea typeface="Roboto" pitchFamily="34" charset="-122"/>
                <a:cs typeface="Roboto" pitchFamily="34" charset="-120"/>
              </a:rPr>
              <a:t> Higher weekly work hours and employee turnover directly align with startup failure.</a:t>
            </a:r>
            <a:endParaRPr lang="en-US" sz="1200" dirty="0"/>
          </a:p>
          <a:p>
            <a:pPr marL="243840" indent="-243840" algn="l">
              <a:lnSpc>
                <a:spcPct val="122000"/>
              </a:lnSpc>
              <a:buSzPct val="100000"/>
              <a:buChar char="•"/>
            </a:pPr>
            <a:r>
              <a:rPr lang="en-US" sz="1200" b="1" dirty="0">
                <a:solidFill>
                  <a:srgbClr val="FFFFFF"/>
                </a:solidFill>
                <a:latin typeface="Roboto Bold" pitchFamily="34" charset="0"/>
                <a:ea typeface="Roboto Bold" pitchFamily="34" charset="-122"/>
                <a:cs typeface="Roboto Bold" pitchFamily="34" charset="-120"/>
              </a:rPr>
              <a:t>Key Protective Buffer:</a:t>
            </a:r>
            <a:r>
              <a:rPr lang="en-US" sz="1200" dirty="0">
                <a:solidFill>
                  <a:srgbClr val="FFFFFF"/>
                </a:solidFill>
                <a:latin typeface="Roboto" pitchFamily="34" charset="0"/>
                <a:ea typeface="Roboto" pitchFamily="34" charset="-122"/>
                <a:cs typeface="Roboto" pitchFamily="34" charset="-120"/>
              </a:rPr>
              <a:t> Stronger work-life balance is clearly linked to startup survival.</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661475" y="586184"/>
            <a:ext cx="11478330" cy="153591"/>
          </a:xfrm>
          <a:prstGeom prst="rect">
            <a:avLst/>
          </a:prstGeom>
          <a:noFill/>
          <a:ln/>
        </p:spPr>
        <p:txBody>
          <a:bodyPr wrap="none" lIns="0" tIns="0" rIns="0" bIns="0" rtlCol="0" anchor="t"/>
          <a:lstStyle/>
          <a:p>
            <a:pPr marL="0" indent="0" algn="l">
              <a:lnSpc>
                <a:spcPct val="108000"/>
              </a:lnSpc>
              <a:buNone/>
            </a:pPr>
            <a:r>
              <a:rPr lang="en-US" sz="900" dirty="0">
                <a:solidFill>
                  <a:srgbClr val="15213F"/>
                </a:solidFill>
                <a:latin typeface="Roboto" pitchFamily="34" charset="0"/>
                <a:ea typeface="Roboto" pitchFamily="34" charset="-122"/>
                <a:cs typeface="Roboto" pitchFamily="34" charset="-120"/>
              </a:rPr>
              <a:t>Target Variable Distribution</a:t>
            </a:r>
            <a:endParaRPr lang="en-US" sz="900" dirty="0"/>
          </a:p>
        </p:txBody>
      </p:sp>
      <p:sp>
        <p:nvSpPr>
          <p:cNvPr id="3" name="Text 1"/>
          <p:cNvSpPr/>
          <p:nvPr/>
        </p:nvSpPr>
        <p:spPr>
          <a:xfrm>
            <a:off x="661475" y="813594"/>
            <a:ext cx="10868745" cy="369193"/>
          </a:xfrm>
          <a:prstGeom prst="rect">
            <a:avLst/>
          </a:prstGeom>
          <a:noFill/>
          <a:ln/>
        </p:spPr>
        <p:txBody>
          <a:bodyPr wrap="none" lIns="0" tIns="0" rIns="0" bIns="0" rtlCol="0" anchor="t"/>
          <a:lstStyle/>
          <a:p>
            <a:pPr marL="0" indent="0" algn="l">
              <a:lnSpc>
                <a:spcPct val="104000"/>
              </a:lnSpc>
              <a:buNone/>
            </a:pPr>
            <a:r>
              <a:rPr lang="en-US" sz="2300" dirty="0">
                <a:solidFill>
                  <a:srgbClr val="F9D933"/>
                </a:solidFill>
                <a:latin typeface="Roboto Slab" pitchFamily="34" charset="0"/>
                <a:ea typeface="Roboto Slab" pitchFamily="34" charset="-122"/>
                <a:cs typeface="Roboto Slab" pitchFamily="34" charset="-120"/>
              </a:rPr>
              <a:t>Target Variable Distribution</a:t>
            </a:r>
            <a:endParaRPr lang="en-US" sz="2300" dirty="0"/>
          </a:p>
        </p:txBody>
      </p:sp>
      <p:pic>
        <p:nvPicPr>
          <p:cNvPr id="4" name="Image 0" descr="preencoded.png"/>
          <p:cNvPicPr>
            <a:picLocks noChangeAspect="1"/>
          </p:cNvPicPr>
          <p:nvPr/>
        </p:nvPicPr>
        <p:blipFill>
          <a:blip r:embed="rId3"/>
          <a:stretch>
            <a:fillRect/>
          </a:stretch>
        </p:blipFill>
        <p:spPr>
          <a:xfrm>
            <a:off x="661475" y="1376561"/>
            <a:ext cx="5862491" cy="4644330"/>
          </a:xfrm>
          <a:prstGeom prst="rect">
            <a:avLst/>
          </a:prstGeom>
        </p:spPr>
      </p:pic>
      <p:sp>
        <p:nvSpPr>
          <p:cNvPr id="5" name="Text 2"/>
          <p:cNvSpPr/>
          <p:nvPr/>
        </p:nvSpPr>
        <p:spPr>
          <a:xfrm>
            <a:off x="9370183" y="1359892"/>
            <a:ext cx="2775972" cy="191889"/>
          </a:xfrm>
          <a:prstGeom prst="rect">
            <a:avLst/>
          </a:prstGeom>
          <a:noFill/>
          <a:ln/>
        </p:spPr>
        <p:txBody>
          <a:bodyPr wrap="none" lIns="0" tIns="0" rIns="0" bIns="0" rtlCol="0" anchor="t"/>
          <a:lstStyle/>
          <a:p>
            <a:pPr marL="0" indent="0" algn="l">
              <a:lnSpc>
                <a:spcPct val="108000"/>
              </a:lnSpc>
              <a:buNone/>
            </a:pPr>
            <a:r>
              <a:rPr lang="en-US" sz="1150" dirty="0">
                <a:solidFill>
                  <a:srgbClr val="5E98F1"/>
                </a:solidFill>
                <a:latin typeface="Roboto" pitchFamily="34" charset="0"/>
                <a:ea typeface="Roboto" pitchFamily="34" charset="-122"/>
                <a:cs typeface="Roboto" pitchFamily="34" charset="-120"/>
              </a:rPr>
              <a:t>Description</a:t>
            </a:r>
            <a:endParaRPr lang="en-US" sz="1150" dirty="0"/>
          </a:p>
        </p:txBody>
      </p:sp>
      <p:sp>
        <p:nvSpPr>
          <p:cNvPr id="6" name="Text 3"/>
          <p:cNvSpPr/>
          <p:nvPr/>
        </p:nvSpPr>
        <p:spPr>
          <a:xfrm>
            <a:off x="9370183" y="1618159"/>
            <a:ext cx="2166387" cy="921544"/>
          </a:xfrm>
          <a:prstGeom prst="rect">
            <a:avLst/>
          </a:prstGeom>
          <a:noFill/>
          <a:ln/>
        </p:spPr>
        <p:txBody>
          <a:bodyPr wrap="square" lIns="0" tIns="0" rIns="0" bIns="0" rtlCol="0" anchor="t">
            <a:normAutofit/>
          </a:bodyPr>
          <a:lstStyle/>
          <a:p>
            <a:pPr marL="0" indent="0" algn="l">
              <a:lnSpc>
                <a:spcPct val="108000"/>
              </a:lnSpc>
              <a:buNone/>
            </a:pPr>
            <a:r>
              <a:rPr lang="en-US" sz="900" b="1" dirty="0">
                <a:solidFill>
                  <a:srgbClr val="FFFFFF"/>
                </a:solidFill>
                <a:latin typeface="Roboto Bold" pitchFamily="34" charset="0"/>
                <a:ea typeface="Roboto Bold" pitchFamily="34" charset="-122"/>
                <a:cs typeface="Roboto Bold" pitchFamily="34" charset="-120"/>
              </a:rPr>
              <a:t>Class Distribution</a:t>
            </a:r>
            <a:endParaRPr lang="en-US" sz="900" dirty="0"/>
          </a:p>
          <a:p>
            <a:pPr marL="0" indent="0" algn="l">
              <a:lnSpc>
                <a:spcPct val="108000"/>
              </a:lnSpc>
              <a:buNone/>
            </a:pPr>
            <a:r>
              <a:rPr lang="en-US" sz="900" dirty="0">
                <a:solidFill>
                  <a:srgbClr val="FFFFFF"/>
                </a:solidFill>
                <a:latin typeface="Roboto" pitchFamily="34" charset="0"/>
                <a:ea typeface="Roboto" pitchFamily="34" charset="-122"/>
                <a:cs typeface="Roboto" pitchFamily="34" charset="-120"/>
              </a:rPr>
              <a:t>The target variable was analyzed to identify the distribution of successful and failed startups and assess whether class imbalance could affect model performance.</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661475" y="544016"/>
            <a:ext cx="10868745" cy="280491"/>
          </a:xfrm>
          <a:prstGeom prst="rect">
            <a:avLst/>
          </a:prstGeom>
          <a:noFill/>
          <a:ln/>
        </p:spPr>
        <p:txBody>
          <a:bodyPr wrap="none" lIns="0" tIns="0" rIns="0" bIns="0" rtlCol="0" anchor="t"/>
          <a:lstStyle/>
          <a:p>
            <a:pPr marL="0" indent="0" algn="l">
              <a:lnSpc>
                <a:spcPct val="104000"/>
              </a:lnSpc>
              <a:buNone/>
            </a:pPr>
            <a:r>
              <a:rPr lang="en-US" sz="1750" b="1" dirty="0">
                <a:solidFill>
                  <a:srgbClr val="F9D933"/>
                </a:solidFill>
                <a:latin typeface="Roboto Slab Bold" pitchFamily="34" charset="0"/>
                <a:ea typeface="Roboto Slab Bold" pitchFamily="34" charset="-122"/>
                <a:cs typeface="Roboto Slab Bold" pitchFamily="34" charset="-120"/>
              </a:rPr>
              <a:t>Categorical Features vs. Startup Failure</a:t>
            </a:r>
            <a:endParaRPr lang="en-US" sz="1750" dirty="0"/>
          </a:p>
        </p:txBody>
      </p:sp>
      <p:pic>
        <p:nvPicPr>
          <p:cNvPr id="3" name="Image 0" descr="preencoded.png"/>
          <p:cNvPicPr>
            <a:picLocks noChangeAspect="1"/>
          </p:cNvPicPr>
          <p:nvPr/>
        </p:nvPicPr>
        <p:blipFill>
          <a:blip r:embed="rId3"/>
          <a:stretch>
            <a:fillRect/>
          </a:stretch>
        </p:blipFill>
        <p:spPr>
          <a:xfrm>
            <a:off x="661475" y="999331"/>
            <a:ext cx="6432091" cy="5239742"/>
          </a:xfrm>
          <a:prstGeom prst="rect">
            <a:avLst/>
          </a:prstGeom>
        </p:spPr>
      </p:pic>
      <p:sp>
        <p:nvSpPr>
          <p:cNvPr id="4" name="Text 1"/>
          <p:cNvSpPr/>
          <p:nvPr/>
        </p:nvSpPr>
        <p:spPr>
          <a:xfrm>
            <a:off x="9358971" y="984349"/>
            <a:ext cx="2787084" cy="178792"/>
          </a:xfrm>
          <a:prstGeom prst="rect">
            <a:avLst/>
          </a:prstGeom>
          <a:noFill/>
          <a:ln/>
        </p:spPr>
        <p:txBody>
          <a:bodyPr wrap="none" lIns="0" tIns="0" rIns="0" bIns="0" rtlCol="0" anchor="t"/>
          <a:lstStyle/>
          <a:p>
            <a:pPr marL="0" indent="0" algn="l">
              <a:lnSpc>
                <a:spcPct val="106000"/>
              </a:lnSpc>
              <a:buNone/>
            </a:pPr>
            <a:r>
              <a:rPr lang="en-US" sz="1100" dirty="0">
                <a:solidFill>
                  <a:srgbClr val="5E98F1"/>
                </a:solidFill>
                <a:latin typeface="Roboto" pitchFamily="34" charset="0"/>
                <a:ea typeface="Roboto" pitchFamily="34" charset="-122"/>
                <a:cs typeface="Roboto" pitchFamily="34" charset="-120"/>
              </a:rPr>
              <a:t>Description</a:t>
            </a:r>
            <a:endParaRPr lang="en-US" sz="1100" dirty="0"/>
          </a:p>
        </p:txBody>
      </p:sp>
      <p:sp>
        <p:nvSpPr>
          <p:cNvPr id="5" name="Text 2"/>
          <p:cNvSpPr/>
          <p:nvPr/>
        </p:nvSpPr>
        <p:spPr>
          <a:xfrm>
            <a:off x="9358971" y="1223070"/>
            <a:ext cx="2177499" cy="775295"/>
          </a:xfrm>
          <a:prstGeom prst="rect">
            <a:avLst/>
          </a:prstGeom>
          <a:noFill/>
          <a:ln/>
        </p:spPr>
        <p:txBody>
          <a:bodyPr wrap="square" lIns="0" tIns="0" rIns="0" bIns="0" rtlCol="0" anchor="t">
            <a:normAutofit/>
          </a:bodyPr>
          <a:lstStyle/>
          <a:p>
            <a:pPr marL="0" indent="0" algn="l">
              <a:lnSpc>
                <a:spcPct val="106000"/>
              </a:lnSpc>
              <a:spcAft>
                <a:spcPts val="450"/>
              </a:spcAft>
              <a:buNone/>
            </a:pPr>
            <a:r>
              <a:rPr lang="en-US" sz="850" b="1" dirty="0">
                <a:solidFill>
                  <a:srgbClr val="FBFCFE"/>
                </a:solidFill>
                <a:latin typeface="Roboto Bold" pitchFamily="34" charset="0"/>
                <a:ea typeface="Roboto Bold" pitchFamily="34" charset="-122"/>
                <a:cs typeface="Roboto Bold" pitchFamily="34" charset="-120"/>
              </a:rPr>
              <a:t>Categorical features were analyzed against startup failure to identify differences in failure rates across industries, funding stages, work modes, and economic</a:t>
            </a:r>
            <a:endParaRPr lang="en-US" sz="850" dirty="0"/>
          </a:p>
          <a:p>
            <a:pPr marL="0" indent="0" algn="l">
              <a:lnSpc>
                <a:spcPct val="106000"/>
              </a:lnSpc>
              <a:buNone/>
            </a:pPr>
            <a:r>
              <a:rPr lang="en-US" sz="850" b="1" dirty="0">
                <a:solidFill>
                  <a:srgbClr val="FBFCFE"/>
                </a:solidFill>
                <a:latin typeface="Roboto Bold" pitchFamily="34" charset="0"/>
                <a:ea typeface="Roboto Bold" pitchFamily="34" charset="-122"/>
                <a:cs typeface="Roboto Bold" pitchFamily="34" charset="-120"/>
              </a:rPr>
              <a:t>conditions.</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661475" y="553045"/>
            <a:ext cx="10868745" cy="420787"/>
          </a:xfrm>
          <a:prstGeom prst="rect">
            <a:avLst/>
          </a:prstGeom>
          <a:noFill/>
          <a:ln/>
        </p:spPr>
        <p:txBody>
          <a:bodyPr wrap="none" lIns="0" tIns="0" rIns="0" bIns="0" rtlCol="0" anchor="t"/>
          <a:lstStyle/>
          <a:p>
            <a:pPr marL="0" indent="0" algn="l">
              <a:lnSpc>
                <a:spcPct val="104000"/>
              </a:lnSpc>
              <a:buNone/>
            </a:pPr>
            <a:r>
              <a:rPr lang="en-US" sz="2650" b="1" dirty="0">
                <a:solidFill>
                  <a:srgbClr val="F9D933"/>
                </a:solidFill>
                <a:latin typeface="Roboto Slab Bold" pitchFamily="34" charset="0"/>
                <a:ea typeface="Roboto Slab Bold" pitchFamily="34" charset="-122"/>
                <a:cs typeface="Roboto Slab Bold" pitchFamily="34" charset="-120"/>
              </a:rPr>
              <a:t>Data Preprocessing</a:t>
            </a:r>
            <a:endParaRPr lang="en-US" sz="2650" dirty="0"/>
          </a:p>
        </p:txBody>
      </p:sp>
      <p:sp>
        <p:nvSpPr>
          <p:cNvPr id="4" name="Text 1"/>
          <p:cNvSpPr/>
          <p:nvPr/>
        </p:nvSpPr>
        <p:spPr>
          <a:xfrm>
            <a:off x="9240209" y="1333599"/>
            <a:ext cx="2905846" cy="318294"/>
          </a:xfrm>
          <a:prstGeom prst="rect">
            <a:avLst/>
          </a:prstGeom>
          <a:noFill/>
          <a:ln/>
        </p:spPr>
        <p:txBody>
          <a:bodyPr wrap="none" lIns="0" tIns="0" rIns="0" bIns="0" rtlCol="0" anchor="t"/>
          <a:lstStyle/>
          <a:p>
            <a:pPr marL="0" indent="0" algn="l">
              <a:lnSpc>
                <a:spcPct val="126000"/>
              </a:lnSpc>
              <a:buNone/>
            </a:pPr>
            <a:r>
              <a:rPr lang="en-US" sz="1650" dirty="0">
                <a:solidFill>
                  <a:srgbClr val="5E98F1"/>
                </a:solidFill>
                <a:latin typeface="Roboto" pitchFamily="34" charset="0"/>
                <a:ea typeface="Roboto" pitchFamily="34" charset="-122"/>
                <a:cs typeface="Roboto" pitchFamily="34" charset="-120"/>
              </a:rPr>
              <a:t>Description</a:t>
            </a:r>
            <a:endParaRPr lang="en-US" sz="1650" dirty="0"/>
          </a:p>
        </p:txBody>
      </p:sp>
      <p:sp>
        <p:nvSpPr>
          <p:cNvPr id="5" name="Text 2"/>
          <p:cNvSpPr/>
          <p:nvPr/>
        </p:nvSpPr>
        <p:spPr>
          <a:xfrm>
            <a:off x="9240209" y="1786830"/>
            <a:ext cx="2296261" cy="3309739"/>
          </a:xfrm>
          <a:prstGeom prst="rect">
            <a:avLst/>
          </a:prstGeom>
          <a:noFill/>
          <a:ln/>
        </p:spPr>
        <p:txBody>
          <a:bodyPr wrap="square" lIns="0" tIns="0" rIns="0" bIns="0" rtlCol="0" anchor="t">
            <a:noAutofit/>
          </a:bodyPr>
          <a:lstStyle/>
          <a:p>
            <a:r>
              <a:rPr lang="en-US" sz="1050" dirty="0">
                <a:solidFill>
                  <a:schemeClr val="bg1"/>
                </a:solidFill>
              </a:rPr>
              <a:t>This slide shows the final data preparation stage before training, covering the following:</a:t>
            </a:r>
          </a:p>
          <a:p>
            <a:pPr lvl="0"/>
            <a:r>
              <a:rPr lang="en-US" sz="1050" dirty="0">
                <a:solidFill>
                  <a:schemeClr val="bg1"/>
                </a:solidFill>
              </a:rPr>
              <a:t>Dropping the leakage-causing columns (</a:t>
            </a:r>
            <a:r>
              <a:rPr lang="en-US" sz="1050" dirty="0" err="1">
                <a:solidFill>
                  <a:schemeClr val="bg1"/>
                </a:solidFill>
              </a:rPr>
              <a:t>Shutdown_Probability</a:t>
            </a:r>
            <a:r>
              <a:rPr lang="en-US" sz="1050" dirty="0">
                <a:solidFill>
                  <a:schemeClr val="bg1"/>
                </a:solidFill>
              </a:rPr>
              <a:t> and </a:t>
            </a:r>
            <a:r>
              <a:rPr lang="en-US" sz="1050" dirty="0" err="1">
                <a:solidFill>
                  <a:schemeClr val="bg1"/>
                </a:solidFill>
              </a:rPr>
              <a:t>Shutdown_Risk</a:t>
            </a:r>
            <a:r>
              <a:rPr lang="en-US" sz="1050" dirty="0">
                <a:solidFill>
                  <a:schemeClr val="bg1"/>
                </a:solidFill>
              </a:rPr>
              <a:t>), and separating the target from the rest of the features.</a:t>
            </a:r>
          </a:p>
          <a:p>
            <a:pPr lvl="0"/>
            <a:r>
              <a:rPr lang="en-US" sz="1050" dirty="0">
                <a:solidFill>
                  <a:schemeClr val="bg1"/>
                </a:solidFill>
              </a:rPr>
              <a:t>One-hot encoding the categorical columns into numeric form.</a:t>
            </a:r>
          </a:p>
          <a:p>
            <a:pPr lvl="0"/>
            <a:r>
              <a:rPr lang="en-US" sz="1050" dirty="0">
                <a:solidFill>
                  <a:schemeClr val="bg1"/>
                </a:solidFill>
              </a:rPr>
              <a:t>Splitting the data into training and test sets (80/20), stratified to preserve the same class distribution in both sets.</a:t>
            </a:r>
          </a:p>
          <a:p>
            <a:pPr lvl="0"/>
            <a:r>
              <a:rPr lang="en-US" sz="1050" dirty="0">
                <a:solidFill>
                  <a:schemeClr val="bg1"/>
                </a:solidFill>
              </a:rPr>
              <a:t>Log-transforming the skewed columns (</a:t>
            </a:r>
            <a:r>
              <a:rPr lang="en-US" sz="1050" dirty="0" err="1">
                <a:solidFill>
                  <a:schemeClr val="bg1"/>
                </a:solidFill>
              </a:rPr>
              <a:t>Founder_Experience_Years</a:t>
            </a:r>
            <a:r>
              <a:rPr lang="en-US" sz="1050" dirty="0">
                <a:solidFill>
                  <a:schemeClr val="bg1"/>
                </a:solidFill>
              </a:rPr>
              <a:t> and </a:t>
            </a:r>
            <a:r>
              <a:rPr lang="en-US" sz="1050" dirty="0" err="1">
                <a:solidFill>
                  <a:schemeClr val="bg1"/>
                </a:solidFill>
              </a:rPr>
              <a:t>Team_Size</a:t>
            </a:r>
            <a:r>
              <a:rPr lang="en-US" sz="1050" dirty="0">
                <a:solidFill>
                  <a:schemeClr val="bg1"/>
                </a:solidFill>
              </a:rPr>
              <a:t>) to reduce the effect of extreme values on their distribution shape.</a:t>
            </a:r>
          </a:p>
          <a:p>
            <a:pPr lvl="0"/>
            <a:r>
              <a:rPr lang="en-US" sz="1050" dirty="0">
                <a:solidFill>
                  <a:schemeClr val="bg1"/>
                </a:solidFill>
              </a:rPr>
              <a:t>Scaling the remaining numeric columns using </a:t>
            </a:r>
            <a:r>
              <a:rPr lang="en-US" sz="1050" dirty="0" err="1">
                <a:solidFill>
                  <a:schemeClr val="bg1"/>
                </a:solidFill>
              </a:rPr>
              <a:t>RobustScaler</a:t>
            </a:r>
            <a:r>
              <a:rPr lang="en-US" sz="1050" dirty="0">
                <a:solidFill>
                  <a:schemeClr val="bg1"/>
                </a:solidFill>
              </a:rPr>
              <a:t>, which relies on the median and IQR to reduce the influence of remaining outliers.</a:t>
            </a:r>
          </a:p>
          <a:p>
            <a:pPr lvl="0"/>
            <a:r>
              <a:rPr lang="en-US" sz="1050" dirty="0">
                <a:solidFill>
                  <a:schemeClr val="bg1"/>
                </a:solidFill>
              </a:rPr>
              <a:t>Handling class imbalance with a hybrid technique (</a:t>
            </a:r>
            <a:r>
              <a:rPr lang="en-US" sz="1050" dirty="0" err="1">
                <a:solidFill>
                  <a:schemeClr val="bg1"/>
                </a:solidFill>
              </a:rPr>
              <a:t>SMOTETomek</a:t>
            </a:r>
            <a:r>
              <a:rPr lang="en-US" sz="1050" dirty="0">
                <a:solidFill>
                  <a:schemeClr val="bg1"/>
                </a:solidFill>
              </a:rPr>
              <a:t>) that combines synthetic oversampling of the minority class with removal of overlapping samples between classes — applied only to the training data, not the test data, to avoid data leakage during evaluation.</a:t>
            </a:r>
            <a:endParaRPr lang="en-US" sz="1050" dirty="0">
              <a:solidFill>
                <a:schemeClr val="bg1"/>
              </a:solidFill>
              <a:effectLst/>
            </a:endParaRPr>
          </a:p>
        </p:txBody>
      </p:sp>
      <p:pic>
        <p:nvPicPr>
          <p:cNvPr id="7" name="Picture 6">
            <a:extLst>
              <a:ext uri="{FF2B5EF4-FFF2-40B4-BE49-F238E27FC236}">
                <a16:creationId xmlns:a16="http://schemas.microsoft.com/office/drawing/2014/main" id="{CCEDCEB9-536A-0488-589B-5E2C0D29E576}"/>
              </a:ext>
            </a:extLst>
          </p:cNvPr>
          <p:cNvPicPr>
            <a:picLocks noChangeAspect="1"/>
          </p:cNvPicPr>
          <p:nvPr/>
        </p:nvPicPr>
        <p:blipFill>
          <a:blip r:embed="rId3"/>
          <a:stretch>
            <a:fillRect/>
          </a:stretch>
        </p:blipFill>
        <p:spPr>
          <a:xfrm>
            <a:off x="661475" y="1076468"/>
            <a:ext cx="6820677" cy="5650903"/>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661475" y="554831"/>
            <a:ext cx="10868745" cy="498376"/>
          </a:xfrm>
          <a:prstGeom prst="rect">
            <a:avLst/>
          </a:prstGeom>
          <a:noFill/>
          <a:ln/>
        </p:spPr>
        <p:txBody>
          <a:bodyPr wrap="none" lIns="0" tIns="0" rIns="0" bIns="0" rtlCol="0" anchor="t"/>
          <a:lstStyle/>
          <a:p>
            <a:pPr marL="0" indent="0" algn="l">
              <a:lnSpc>
                <a:spcPct val="104000"/>
              </a:lnSpc>
              <a:buNone/>
            </a:pPr>
            <a:r>
              <a:rPr lang="en-US" sz="3100" dirty="0">
                <a:solidFill>
                  <a:srgbClr val="F9D933"/>
                </a:solidFill>
                <a:latin typeface="Roboto Slab" pitchFamily="34" charset="0"/>
                <a:ea typeface="Roboto Slab" pitchFamily="34" charset="-122"/>
                <a:cs typeface="Roboto Slab" pitchFamily="34" charset="-120"/>
              </a:rPr>
              <a:t>Model Selection</a:t>
            </a:r>
            <a:endParaRPr lang="en-US" sz="3100" dirty="0"/>
          </a:p>
        </p:txBody>
      </p:sp>
      <p:sp>
        <p:nvSpPr>
          <p:cNvPr id="3" name="Text 1"/>
          <p:cNvSpPr/>
          <p:nvPr/>
        </p:nvSpPr>
        <p:spPr>
          <a:xfrm>
            <a:off x="661475" y="1255018"/>
            <a:ext cx="11478330" cy="293985"/>
          </a:xfrm>
          <a:prstGeom prst="rect">
            <a:avLst/>
          </a:prstGeom>
          <a:noFill/>
          <a:ln/>
        </p:spPr>
        <p:txBody>
          <a:bodyPr wrap="none" lIns="0" tIns="0" rIns="0" bIns="0" rtlCol="0" anchor="t"/>
          <a:lstStyle/>
          <a:p>
            <a:pPr marL="0" indent="0" algn="l">
              <a:lnSpc>
                <a:spcPct val="123000"/>
              </a:lnSpc>
              <a:buNone/>
            </a:pPr>
            <a:r>
              <a:rPr lang="en-US" sz="1550" b="1" dirty="0">
                <a:solidFill>
                  <a:srgbClr val="AEE4BD"/>
                </a:solidFill>
                <a:latin typeface="Roboto Bold" pitchFamily="34" charset="0"/>
                <a:ea typeface="Roboto Bold" pitchFamily="34" charset="-122"/>
                <a:cs typeface="Roboto Bold" pitchFamily="34" charset="-120"/>
              </a:rPr>
              <a:t>Algorithm Evaluation</a:t>
            </a:r>
            <a:endParaRPr lang="en-US" sz="1550" dirty="0"/>
          </a:p>
        </p:txBody>
      </p:sp>
      <p:sp>
        <p:nvSpPr>
          <p:cNvPr id="4" name="Text 2"/>
          <p:cNvSpPr/>
          <p:nvPr/>
        </p:nvSpPr>
        <p:spPr>
          <a:xfrm>
            <a:off x="661475" y="1700312"/>
            <a:ext cx="10868745" cy="621605"/>
          </a:xfrm>
          <a:prstGeom prst="rect">
            <a:avLst/>
          </a:prstGeom>
          <a:noFill/>
          <a:ln/>
        </p:spPr>
        <p:txBody>
          <a:bodyPr wrap="square" lIns="0" tIns="0" rIns="0" bIns="0" rtlCol="0" anchor="t"/>
          <a:lstStyle/>
          <a:p>
            <a:pPr marL="0" indent="0" algn="l">
              <a:lnSpc>
                <a:spcPct val="123000"/>
              </a:lnSpc>
              <a:spcAft>
                <a:spcPts val="1150"/>
              </a:spcAft>
              <a:buNone/>
            </a:pPr>
            <a:r>
              <a:rPr lang="en-US" sz="1250" dirty="0">
                <a:solidFill>
                  <a:srgbClr val="FBFCFE"/>
                </a:solidFill>
                <a:latin typeface="Roboto" pitchFamily="34" charset="0"/>
                <a:ea typeface="Roboto" pitchFamily="34" charset="-122"/>
                <a:cs typeface="Roboto" pitchFamily="34" charset="-120"/>
              </a:rPr>
              <a:t>We evaluated multiple machine learning algorithms to identify the most suitable model for predicting startup failure risk.</a:t>
            </a:r>
            <a:endParaRPr lang="en-US" sz="1250" dirty="0"/>
          </a:p>
          <a:p>
            <a:pPr marL="0" indent="0" algn="l">
              <a:lnSpc>
                <a:spcPct val="123000"/>
              </a:lnSpc>
              <a:buNone/>
            </a:pPr>
            <a:r>
              <a:rPr lang="en-US" sz="1250" b="1" dirty="0">
                <a:solidFill>
                  <a:srgbClr val="AEE4BD"/>
                </a:solidFill>
                <a:latin typeface="Roboto Bold" pitchFamily="34" charset="0"/>
                <a:ea typeface="Roboto Bold" pitchFamily="34" charset="-122"/>
                <a:cs typeface="Roboto Bold" pitchFamily="34" charset="-120"/>
              </a:rPr>
              <a:t>Models Evaluated:</a:t>
            </a:r>
            <a:endParaRPr lang="en-US" sz="1250" dirty="0"/>
          </a:p>
        </p:txBody>
      </p:sp>
      <p:sp>
        <p:nvSpPr>
          <p:cNvPr id="5" name="Text 3"/>
          <p:cNvSpPr/>
          <p:nvPr/>
        </p:nvSpPr>
        <p:spPr>
          <a:xfrm>
            <a:off x="661475" y="2473226"/>
            <a:ext cx="10868745" cy="2210395"/>
          </a:xfrm>
          <a:prstGeom prst="rect">
            <a:avLst/>
          </a:prstGeom>
          <a:noFill/>
          <a:ln/>
        </p:spPr>
        <p:txBody>
          <a:bodyPr wrap="square" lIns="0" tIns="0" rIns="0" bIns="0" rtlCol="0" anchor="t">
            <a:normAutofit/>
          </a:bodyPr>
          <a:lstStyle/>
          <a:p>
            <a:pPr marL="254000" indent="-254000" algn="l">
              <a:lnSpc>
                <a:spcPct val="123000"/>
              </a:lnSpc>
              <a:buSzPct val="100000"/>
              <a:buChar char="•"/>
            </a:pPr>
            <a:r>
              <a:rPr lang="en-US" sz="1250" b="1" dirty="0">
                <a:solidFill>
                  <a:srgbClr val="FBFCFE"/>
                </a:solidFill>
                <a:latin typeface="Roboto Bold" pitchFamily="34" charset="0"/>
                <a:ea typeface="Roboto Bold" pitchFamily="34" charset="-122"/>
                <a:cs typeface="Roboto Bold" pitchFamily="34" charset="-120"/>
              </a:rPr>
              <a:t>Logistic Regression</a:t>
            </a:r>
            <a:endParaRPr lang="en-US" sz="1250" dirty="0"/>
          </a:p>
          <a:p>
            <a:pPr marL="254000" indent="-254000" algn="l">
              <a:lnSpc>
                <a:spcPct val="123000"/>
              </a:lnSpc>
              <a:buSzPct val="100000"/>
              <a:buChar char="•"/>
            </a:pPr>
            <a:r>
              <a:rPr lang="en-US" sz="1250" b="1" dirty="0">
                <a:solidFill>
                  <a:srgbClr val="FBFCFE"/>
                </a:solidFill>
                <a:latin typeface="Roboto Bold" pitchFamily="34" charset="0"/>
                <a:ea typeface="Roboto Bold" pitchFamily="34" charset="-122"/>
                <a:cs typeface="Roboto Bold" pitchFamily="34" charset="-120"/>
              </a:rPr>
              <a:t>Decision Tree</a:t>
            </a:r>
            <a:endParaRPr lang="en-US" sz="1250" dirty="0"/>
          </a:p>
          <a:p>
            <a:pPr marL="254000" indent="-254000" algn="l">
              <a:lnSpc>
                <a:spcPct val="123000"/>
              </a:lnSpc>
              <a:buSzPct val="100000"/>
              <a:buChar char="•"/>
            </a:pPr>
            <a:r>
              <a:rPr lang="en-US" sz="1250" b="1" dirty="0">
                <a:solidFill>
                  <a:srgbClr val="FBFCFE"/>
                </a:solidFill>
                <a:latin typeface="Roboto Bold" pitchFamily="34" charset="0"/>
                <a:ea typeface="Roboto Bold" pitchFamily="34" charset="-122"/>
                <a:cs typeface="Roboto Bold" pitchFamily="34" charset="-120"/>
              </a:rPr>
              <a:t>Random Forest</a:t>
            </a:r>
            <a:endParaRPr lang="en-US" sz="1250" dirty="0"/>
          </a:p>
          <a:p>
            <a:pPr marL="254000" indent="-254000" algn="l">
              <a:lnSpc>
                <a:spcPct val="123000"/>
              </a:lnSpc>
              <a:buSzPct val="100000"/>
              <a:buChar char="•"/>
            </a:pPr>
            <a:r>
              <a:rPr lang="en-US" sz="1250" b="1" dirty="0">
                <a:solidFill>
                  <a:srgbClr val="FBFCFE"/>
                </a:solidFill>
                <a:latin typeface="Roboto Bold" pitchFamily="34" charset="0"/>
                <a:ea typeface="Roboto Bold" pitchFamily="34" charset="-122"/>
                <a:cs typeface="Roboto Bold" pitchFamily="34" charset="-120"/>
              </a:rPr>
              <a:t>Gradient Boosting</a:t>
            </a:r>
            <a:endParaRPr lang="en-US" sz="1250" dirty="0"/>
          </a:p>
          <a:p>
            <a:pPr marL="254000" indent="-254000" algn="l">
              <a:lnSpc>
                <a:spcPct val="123000"/>
              </a:lnSpc>
              <a:buSzPct val="100000"/>
              <a:buChar char="•"/>
            </a:pPr>
            <a:r>
              <a:rPr lang="en-US" sz="1250" b="1" dirty="0">
                <a:solidFill>
                  <a:srgbClr val="FBFCFE"/>
                </a:solidFill>
                <a:latin typeface="Roboto Bold" pitchFamily="34" charset="0"/>
                <a:ea typeface="Roboto Bold" pitchFamily="34" charset="-122"/>
                <a:cs typeface="Roboto Bold" pitchFamily="34" charset="-120"/>
              </a:rPr>
              <a:t>AdaBoost</a:t>
            </a:r>
            <a:endParaRPr lang="en-US" sz="1250" dirty="0"/>
          </a:p>
          <a:p>
            <a:pPr marL="254000" indent="-254000" algn="l">
              <a:lnSpc>
                <a:spcPct val="123000"/>
              </a:lnSpc>
              <a:buSzPct val="100000"/>
              <a:buChar char="•"/>
            </a:pPr>
            <a:r>
              <a:rPr lang="en-US" sz="1250" b="1" dirty="0">
                <a:solidFill>
                  <a:srgbClr val="FBFCFE"/>
                </a:solidFill>
                <a:latin typeface="Roboto Bold" pitchFamily="34" charset="0"/>
                <a:ea typeface="Roboto Bold" pitchFamily="34" charset="-122"/>
                <a:cs typeface="Roboto Bold" pitchFamily="34" charset="-120"/>
              </a:rPr>
              <a:t>XGBoost</a:t>
            </a:r>
            <a:endParaRPr lang="en-US" sz="1250" dirty="0"/>
          </a:p>
          <a:p>
            <a:pPr marL="254000" indent="-254000" algn="l">
              <a:lnSpc>
                <a:spcPct val="123000"/>
              </a:lnSpc>
              <a:buSzPct val="100000"/>
              <a:buChar char="•"/>
            </a:pPr>
            <a:r>
              <a:rPr lang="en-US" sz="1250" b="1" dirty="0">
                <a:solidFill>
                  <a:srgbClr val="FBFCFE"/>
                </a:solidFill>
                <a:latin typeface="Roboto Bold" pitchFamily="34" charset="0"/>
                <a:ea typeface="Roboto Bold" pitchFamily="34" charset="-122"/>
                <a:cs typeface="Roboto Bold" pitchFamily="34" charset="-120"/>
              </a:rPr>
              <a:t>K-Nearest Neighbors (KNN)</a:t>
            </a:r>
            <a:endParaRPr lang="en-US" sz="1250" dirty="0"/>
          </a:p>
          <a:p>
            <a:pPr marL="254000" indent="-254000" algn="l">
              <a:lnSpc>
                <a:spcPct val="123000"/>
              </a:lnSpc>
              <a:buSzPct val="100000"/>
              <a:buChar char="•"/>
            </a:pPr>
            <a:r>
              <a:rPr lang="en-US" sz="1250" b="1" dirty="0">
                <a:solidFill>
                  <a:srgbClr val="FBFCFE"/>
                </a:solidFill>
                <a:latin typeface="Roboto Bold" pitchFamily="34" charset="0"/>
                <a:ea typeface="Roboto Bold" pitchFamily="34" charset="-122"/>
                <a:cs typeface="Roboto Bold" pitchFamily="34" charset="-120"/>
              </a:rPr>
              <a:t>Neural Network (MLPEvaluation Strategy</a:t>
            </a:r>
            <a:endParaRPr lang="en-US" sz="1250" dirty="0"/>
          </a:p>
        </p:txBody>
      </p:sp>
      <p:sp>
        <p:nvSpPr>
          <p:cNvPr id="6" name="Text 4"/>
          <p:cNvSpPr/>
          <p:nvPr/>
        </p:nvSpPr>
        <p:spPr>
          <a:xfrm>
            <a:off x="661475" y="4834930"/>
            <a:ext cx="11478330" cy="235148"/>
          </a:xfrm>
          <a:prstGeom prst="rect">
            <a:avLst/>
          </a:prstGeom>
          <a:noFill/>
          <a:ln/>
        </p:spPr>
        <p:txBody>
          <a:bodyPr wrap="none" lIns="0" tIns="0" rIns="0" bIns="0" rtlCol="0" anchor="t"/>
          <a:lstStyle/>
          <a:p>
            <a:pPr marL="0" indent="0" algn="l">
              <a:lnSpc>
                <a:spcPct val="123000"/>
              </a:lnSpc>
              <a:buNone/>
            </a:pPr>
            <a:r>
              <a:rPr lang="en-US" sz="1250" dirty="0">
                <a:solidFill>
                  <a:srgbClr val="AEE4BD"/>
                </a:solidFill>
                <a:latin typeface="Roboto" pitchFamily="34" charset="0"/>
                <a:ea typeface="Roboto" pitchFamily="34" charset="-122"/>
                <a:cs typeface="Roboto" pitchFamily="34" charset="-120"/>
              </a:rPr>
              <a:t>Models will be compared based on:</a:t>
            </a:r>
            <a:endParaRPr lang="en-US" sz="1250" dirty="0"/>
          </a:p>
        </p:txBody>
      </p:sp>
      <p:sp>
        <p:nvSpPr>
          <p:cNvPr id="7" name="Text 5"/>
          <p:cNvSpPr/>
          <p:nvPr/>
        </p:nvSpPr>
        <p:spPr>
          <a:xfrm>
            <a:off x="661475" y="5221387"/>
            <a:ext cx="10868745" cy="1081683"/>
          </a:xfrm>
          <a:prstGeom prst="rect">
            <a:avLst/>
          </a:prstGeom>
          <a:noFill/>
          <a:ln/>
        </p:spPr>
        <p:txBody>
          <a:bodyPr wrap="square" lIns="0" tIns="0" rIns="0" bIns="0" rtlCol="0" anchor="t">
            <a:normAutofit/>
          </a:bodyPr>
          <a:lstStyle/>
          <a:p>
            <a:pPr marL="254000" indent="-254000" algn="l">
              <a:lnSpc>
                <a:spcPct val="123000"/>
              </a:lnSpc>
              <a:buSzPct val="100000"/>
              <a:buChar char="•"/>
            </a:pPr>
            <a:r>
              <a:rPr lang="en-US" sz="1250" dirty="0">
                <a:solidFill>
                  <a:srgbClr val="FBFCFE"/>
                </a:solidFill>
                <a:latin typeface="Roboto" pitchFamily="34" charset="0"/>
                <a:ea typeface="Roboto" pitchFamily="34" charset="-122"/>
                <a:cs typeface="Roboto" pitchFamily="34" charset="-120"/>
              </a:rPr>
              <a:t>Accuracy</a:t>
            </a:r>
            <a:endParaRPr lang="en-US" sz="1250" dirty="0"/>
          </a:p>
          <a:p>
            <a:pPr marL="254000" indent="-254000" algn="l">
              <a:lnSpc>
                <a:spcPct val="123000"/>
              </a:lnSpc>
              <a:buSzPct val="100000"/>
              <a:buChar char="•"/>
            </a:pPr>
            <a:r>
              <a:rPr lang="en-US" sz="1250" dirty="0">
                <a:solidFill>
                  <a:srgbClr val="FBFCFE"/>
                </a:solidFill>
                <a:latin typeface="Roboto" pitchFamily="34" charset="0"/>
                <a:ea typeface="Roboto" pitchFamily="34" charset="-122"/>
                <a:cs typeface="Roboto" pitchFamily="34" charset="-120"/>
              </a:rPr>
              <a:t>Precision</a:t>
            </a:r>
            <a:endParaRPr lang="en-US" sz="1250" dirty="0"/>
          </a:p>
          <a:p>
            <a:pPr marL="254000" indent="-254000" algn="l">
              <a:lnSpc>
                <a:spcPct val="123000"/>
              </a:lnSpc>
              <a:buSzPct val="100000"/>
              <a:buChar char="•"/>
            </a:pPr>
            <a:r>
              <a:rPr lang="en-US" sz="1250" dirty="0">
                <a:solidFill>
                  <a:srgbClr val="FBFCFE"/>
                </a:solidFill>
                <a:latin typeface="Roboto" pitchFamily="34" charset="0"/>
                <a:ea typeface="Roboto" pitchFamily="34" charset="-122"/>
                <a:cs typeface="Roboto" pitchFamily="34" charset="-120"/>
              </a:rPr>
              <a:t>Recall</a:t>
            </a:r>
            <a:endParaRPr lang="en-US" sz="1250" dirty="0"/>
          </a:p>
          <a:p>
            <a:pPr marL="254000" indent="-254000" algn="l">
              <a:lnSpc>
                <a:spcPct val="123000"/>
              </a:lnSpc>
              <a:buSzPct val="100000"/>
              <a:buChar char="•"/>
            </a:pPr>
            <a:r>
              <a:rPr lang="en-US" sz="1250" dirty="0">
                <a:solidFill>
                  <a:srgbClr val="FBFCFE"/>
                </a:solidFill>
                <a:latin typeface="Roboto" pitchFamily="34" charset="0"/>
                <a:ea typeface="Roboto" pitchFamily="34" charset="-122"/>
                <a:cs typeface="Roboto" pitchFamily="34" charset="-120"/>
              </a:rPr>
              <a:t>F1-Score</a:t>
            </a:r>
            <a:endParaRPr lang="en-US" sz="12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661475" y="549870"/>
            <a:ext cx="10868745" cy="489148"/>
          </a:xfrm>
          <a:prstGeom prst="rect">
            <a:avLst/>
          </a:prstGeom>
          <a:noFill/>
          <a:ln/>
        </p:spPr>
        <p:txBody>
          <a:bodyPr wrap="none" lIns="0" tIns="0" rIns="0" bIns="0" rtlCol="0" anchor="t"/>
          <a:lstStyle/>
          <a:p>
            <a:pPr marL="0" indent="0" algn="l">
              <a:lnSpc>
                <a:spcPct val="104000"/>
              </a:lnSpc>
              <a:buNone/>
            </a:pPr>
            <a:r>
              <a:rPr lang="en-US" sz="3050" dirty="0">
                <a:solidFill>
                  <a:srgbClr val="F9D933"/>
                </a:solidFill>
                <a:latin typeface="Roboto Slab" pitchFamily="34" charset="0"/>
                <a:ea typeface="Roboto Slab" pitchFamily="34" charset="-122"/>
                <a:cs typeface="Roboto Slab" pitchFamily="34" charset="-120"/>
              </a:rPr>
              <a:t>Initial Experiment</a:t>
            </a:r>
            <a:endParaRPr lang="en-US" sz="3050" dirty="0"/>
          </a:p>
        </p:txBody>
      </p:sp>
      <p:sp>
        <p:nvSpPr>
          <p:cNvPr id="3" name="Text 1"/>
          <p:cNvSpPr/>
          <p:nvPr/>
        </p:nvSpPr>
        <p:spPr>
          <a:xfrm>
            <a:off x="661475" y="1090811"/>
            <a:ext cx="10868745" cy="293489"/>
          </a:xfrm>
          <a:prstGeom prst="rect">
            <a:avLst/>
          </a:prstGeom>
          <a:noFill/>
          <a:ln/>
        </p:spPr>
        <p:txBody>
          <a:bodyPr wrap="none" lIns="0" tIns="0" rIns="0" bIns="0" rtlCol="0" anchor="t"/>
          <a:lstStyle/>
          <a:p>
            <a:pPr marL="0" indent="0" algn="l">
              <a:lnSpc>
                <a:spcPct val="104000"/>
              </a:lnSpc>
              <a:buNone/>
            </a:pPr>
            <a:r>
              <a:rPr lang="en-US" sz="1800" b="1" dirty="0">
                <a:solidFill>
                  <a:srgbClr val="5E98F1"/>
                </a:solidFill>
                <a:latin typeface="Roboto Slab Bold" pitchFamily="34" charset="0"/>
                <a:ea typeface="Roboto Slab Bold" pitchFamily="34" charset="-122"/>
                <a:cs typeface="Roboto Slab Bold" pitchFamily="34" charset="-120"/>
              </a:rPr>
              <a:t>The Challenge:</a:t>
            </a:r>
            <a:endParaRPr lang="en-US" sz="1800" dirty="0"/>
          </a:p>
        </p:txBody>
      </p:sp>
      <p:sp>
        <p:nvSpPr>
          <p:cNvPr id="4" name="Text 2"/>
          <p:cNvSpPr/>
          <p:nvPr/>
        </p:nvSpPr>
        <p:spPr>
          <a:xfrm>
            <a:off x="661475" y="1578670"/>
            <a:ext cx="11478330" cy="286147"/>
          </a:xfrm>
          <a:prstGeom prst="rect">
            <a:avLst/>
          </a:prstGeom>
          <a:noFill/>
          <a:ln/>
        </p:spPr>
        <p:txBody>
          <a:bodyPr wrap="none" lIns="0" tIns="0" rIns="0" bIns="0" rtlCol="0" anchor="t"/>
          <a:lstStyle/>
          <a:p>
            <a:pPr marL="0" indent="0" algn="l">
              <a:lnSpc>
                <a:spcPct val="122000"/>
              </a:lnSpc>
              <a:buNone/>
            </a:pPr>
            <a:r>
              <a:rPr lang="en-US" sz="1500" dirty="0">
                <a:solidFill>
                  <a:srgbClr val="FFFFFF"/>
                </a:solidFill>
                <a:latin typeface="Roboto" pitchFamily="34" charset="0"/>
                <a:ea typeface="Roboto" pitchFamily="34" charset="-122"/>
                <a:cs typeface="Roboto" pitchFamily="34" charset="-120"/>
              </a:rPr>
              <a:t>The target variable was imbalanced, which could bias the models toward the majority class.</a:t>
            </a:r>
            <a:endParaRPr lang="en-US" sz="1500" dirty="0"/>
          </a:p>
        </p:txBody>
      </p:sp>
      <p:sp>
        <p:nvSpPr>
          <p:cNvPr id="5" name="Text 3"/>
          <p:cNvSpPr/>
          <p:nvPr/>
        </p:nvSpPr>
        <p:spPr>
          <a:xfrm>
            <a:off x="661475" y="2059186"/>
            <a:ext cx="10868745" cy="293489"/>
          </a:xfrm>
          <a:prstGeom prst="rect">
            <a:avLst/>
          </a:prstGeom>
          <a:noFill/>
          <a:ln/>
        </p:spPr>
        <p:txBody>
          <a:bodyPr wrap="none" lIns="0" tIns="0" rIns="0" bIns="0" rtlCol="0" anchor="t"/>
          <a:lstStyle/>
          <a:p>
            <a:pPr marL="0" indent="0" algn="l">
              <a:lnSpc>
                <a:spcPct val="104000"/>
              </a:lnSpc>
              <a:buNone/>
            </a:pPr>
            <a:r>
              <a:rPr lang="en-US" sz="1800" b="1" dirty="0">
                <a:solidFill>
                  <a:srgbClr val="5E98F1"/>
                </a:solidFill>
                <a:latin typeface="Roboto Slab Bold" pitchFamily="34" charset="0"/>
                <a:ea typeface="Roboto Slab Bold" pitchFamily="34" charset="-122"/>
                <a:cs typeface="Roboto Slab Bold" pitchFamily="34" charset="-120"/>
              </a:rPr>
              <a:t>Our Approach</a:t>
            </a:r>
            <a:endParaRPr lang="en-US" sz="1800" dirty="0"/>
          </a:p>
        </p:txBody>
      </p:sp>
      <p:sp>
        <p:nvSpPr>
          <p:cNvPr id="6" name="Text 4"/>
          <p:cNvSpPr/>
          <p:nvPr/>
        </p:nvSpPr>
        <p:spPr>
          <a:xfrm>
            <a:off x="661475" y="2547045"/>
            <a:ext cx="11478330" cy="228898"/>
          </a:xfrm>
          <a:prstGeom prst="rect">
            <a:avLst/>
          </a:prstGeom>
          <a:noFill/>
          <a:ln/>
        </p:spPr>
        <p:txBody>
          <a:bodyPr wrap="none" lIns="0" tIns="0" rIns="0" bIns="0" rtlCol="0" anchor="t"/>
          <a:lstStyle/>
          <a:p>
            <a:pPr marL="0" indent="0" algn="l">
              <a:lnSpc>
                <a:spcPct val="122000"/>
              </a:lnSpc>
              <a:buNone/>
            </a:pPr>
            <a:r>
              <a:rPr lang="en-US" sz="1200" dirty="0">
                <a:solidFill>
                  <a:srgbClr val="FFFFFF"/>
                </a:solidFill>
                <a:latin typeface="Roboto" pitchFamily="34" charset="0"/>
                <a:ea typeface="Roboto" pitchFamily="34" charset="-122"/>
                <a:cs typeface="Roboto" pitchFamily="34" charset="-120"/>
              </a:rPr>
              <a:t>We applied </a:t>
            </a:r>
            <a:r>
              <a:rPr lang="en-US" sz="1200" b="1" dirty="0">
                <a:solidFill>
                  <a:srgbClr val="FFFFFF"/>
                </a:solidFill>
                <a:latin typeface="Roboto Bold" pitchFamily="34" charset="0"/>
                <a:ea typeface="Roboto Bold" pitchFamily="34" charset="-122"/>
                <a:cs typeface="Roboto Bold" pitchFamily="34" charset="-120"/>
              </a:rPr>
              <a:t>SMOTE + Tomek Links (SMOTETomek)</a:t>
            </a:r>
            <a:r>
              <a:rPr lang="en-US" sz="1200" dirty="0">
                <a:solidFill>
                  <a:srgbClr val="FFFFFF"/>
                </a:solidFill>
                <a:latin typeface="Roboto" pitchFamily="34" charset="0"/>
                <a:ea typeface="Roboto" pitchFamily="34" charset="-122"/>
                <a:cs typeface="Roboto" pitchFamily="34" charset="-120"/>
              </a:rPr>
              <a:t> to the training data to balance the two classes before training the models.</a:t>
            </a:r>
            <a:endParaRPr lang="en-US" sz="1200" dirty="0"/>
          </a:p>
        </p:txBody>
      </p:sp>
      <p:pic>
        <p:nvPicPr>
          <p:cNvPr id="7" name="Image 0" descr="preencoded.png"/>
          <p:cNvPicPr>
            <a:picLocks noChangeAspect="1"/>
          </p:cNvPicPr>
          <p:nvPr/>
        </p:nvPicPr>
        <p:blipFill>
          <a:blip r:embed="rId3"/>
          <a:stretch>
            <a:fillRect/>
          </a:stretch>
        </p:blipFill>
        <p:spPr>
          <a:xfrm>
            <a:off x="661475" y="3499346"/>
            <a:ext cx="4400241" cy="1799233"/>
          </a:xfrm>
          <a:prstGeom prst="rect">
            <a:avLst/>
          </a:prstGeom>
        </p:spPr>
      </p:pic>
      <p:sp>
        <p:nvSpPr>
          <p:cNvPr id="8" name="Text 5"/>
          <p:cNvSpPr/>
          <p:nvPr/>
        </p:nvSpPr>
        <p:spPr>
          <a:xfrm>
            <a:off x="661475" y="5590084"/>
            <a:ext cx="10868745" cy="718046"/>
          </a:xfrm>
          <a:prstGeom prst="rect">
            <a:avLst/>
          </a:prstGeom>
          <a:noFill/>
          <a:ln/>
        </p:spPr>
        <p:txBody>
          <a:bodyPr wrap="square" lIns="0" tIns="0" rIns="0" bIns="0" rtlCol="0" anchor="t"/>
          <a:lstStyle/>
          <a:p>
            <a:pPr marL="0" indent="0" algn="l">
              <a:lnSpc>
                <a:spcPct val="122000"/>
              </a:lnSpc>
              <a:spcAft>
                <a:spcPts val="1100"/>
              </a:spcAft>
              <a:buNone/>
            </a:pPr>
            <a:endParaRPr lang="en-US" sz="15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661475" y="547787"/>
            <a:ext cx="10868745" cy="470595"/>
          </a:xfrm>
          <a:prstGeom prst="rect">
            <a:avLst/>
          </a:prstGeom>
          <a:noFill/>
          <a:ln/>
        </p:spPr>
        <p:txBody>
          <a:bodyPr wrap="none" lIns="0" tIns="0" rIns="0" bIns="0" rtlCol="0" anchor="t"/>
          <a:lstStyle/>
          <a:p>
            <a:pPr marL="0" indent="0" algn="l">
              <a:lnSpc>
                <a:spcPct val="104000"/>
              </a:lnSpc>
              <a:buNone/>
            </a:pPr>
            <a:r>
              <a:rPr lang="en-US" sz="2950" dirty="0">
                <a:solidFill>
                  <a:srgbClr val="F9D933"/>
                </a:solidFill>
                <a:latin typeface="Roboto Slab" pitchFamily="34" charset="0"/>
                <a:ea typeface="Roboto Slab" pitchFamily="34" charset="-122"/>
                <a:cs typeface="Roboto Slab" pitchFamily="34" charset="-120"/>
              </a:rPr>
              <a:t>Model Evaluation</a:t>
            </a:r>
            <a:endParaRPr lang="en-US" sz="2950" dirty="0"/>
          </a:p>
        </p:txBody>
      </p:sp>
      <p:sp>
        <p:nvSpPr>
          <p:cNvPr id="4" name="Text 1"/>
          <p:cNvSpPr/>
          <p:nvPr/>
        </p:nvSpPr>
        <p:spPr>
          <a:xfrm>
            <a:off x="6960120" y="1306314"/>
            <a:ext cx="4576450" cy="1894681"/>
          </a:xfrm>
          <a:prstGeom prst="rect">
            <a:avLst/>
          </a:prstGeom>
          <a:noFill/>
          <a:ln/>
        </p:spPr>
        <p:txBody>
          <a:bodyPr wrap="square" lIns="0" tIns="0" rIns="0" bIns="0" rtlCol="0" anchor="t">
            <a:normAutofit/>
          </a:bodyPr>
          <a:lstStyle/>
          <a:p>
            <a:pPr marL="0" indent="0" algn="l">
              <a:lnSpc>
                <a:spcPct val="120000"/>
              </a:lnSpc>
              <a:buNone/>
            </a:pPr>
            <a:r>
              <a:rPr lang="en-US" sz="1450" dirty="0">
                <a:solidFill>
                  <a:srgbClr val="FFFFFF"/>
                </a:solidFill>
                <a:latin typeface="Roboto" pitchFamily="34" charset="0"/>
                <a:ea typeface="Roboto" pitchFamily="34" charset="-122"/>
                <a:cs typeface="Roboto" pitchFamily="34" charset="-120"/>
              </a:rPr>
              <a:t>The model shows strong overall performance (8</a:t>
            </a:r>
            <a:r>
              <a:rPr lang="ar-EG" sz="1450" dirty="0">
                <a:solidFill>
                  <a:srgbClr val="FFFFFF"/>
                </a:solidFill>
                <a:latin typeface="Roboto" pitchFamily="34" charset="0"/>
                <a:ea typeface="Roboto" pitchFamily="34" charset="-122"/>
                <a:cs typeface="Roboto" pitchFamily="34" charset="-120"/>
              </a:rPr>
              <a:t>9</a:t>
            </a:r>
            <a:r>
              <a:rPr lang="en-US" sz="1450" dirty="0">
                <a:solidFill>
                  <a:srgbClr val="FFFFFF"/>
                </a:solidFill>
                <a:latin typeface="Roboto" pitchFamily="34" charset="0"/>
                <a:ea typeface="Roboto" pitchFamily="34" charset="-122"/>
                <a:cs typeface="Roboto" pitchFamily="34" charset="-120"/>
              </a:rPr>
              <a:t>% test accuracy) but a noticeable gap between classes: precision on "No Failure" reaches 0.9</a:t>
            </a:r>
            <a:r>
              <a:rPr lang="ar-EG" sz="1450" dirty="0">
                <a:solidFill>
                  <a:srgbClr val="FFFFFF"/>
                </a:solidFill>
                <a:latin typeface="Roboto" pitchFamily="34" charset="0"/>
                <a:ea typeface="Roboto" pitchFamily="34" charset="-122"/>
                <a:cs typeface="Roboto" pitchFamily="34" charset="-120"/>
              </a:rPr>
              <a:t>2</a:t>
            </a:r>
            <a:r>
              <a:rPr lang="en-US" sz="1450" dirty="0">
                <a:solidFill>
                  <a:srgbClr val="FFFFFF"/>
                </a:solidFill>
                <a:latin typeface="Roboto" pitchFamily="34" charset="0"/>
                <a:ea typeface="Roboto" pitchFamily="34" charset="-122"/>
                <a:cs typeface="Roboto" pitchFamily="34" charset="-120"/>
              </a:rPr>
              <a:t>, while "Failure" cases — the harder minority class — score lower at 0.</a:t>
            </a:r>
            <a:r>
              <a:rPr lang="ar-EG" sz="1450" dirty="0">
                <a:solidFill>
                  <a:srgbClr val="FFFFFF"/>
                </a:solidFill>
                <a:latin typeface="Roboto" pitchFamily="34" charset="0"/>
                <a:ea typeface="Roboto" pitchFamily="34" charset="-122"/>
                <a:cs typeface="Roboto" pitchFamily="34" charset="-120"/>
              </a:rPr>
              <a:t>8</a:t>
            </a:r>
            <a:r>
              <a:rPr lang="en-US" sz="1450" dirty="0">
                <a:solidFill>
                  <a:srgbClr val="FFFFFF"/>
                </a:solidFill>
                <a:latin typeface="Roboto" pitchFamily="34" charset="0"/>
                <a:ea typeface="Roboto" pitchFamily="34" charset="-122"/>
                <a:cs typeface="Roboto" pitchFamily="34" charset="-120"/>
              </a:rPr>
              <a:t> precision and 0.7</a:t>
            </a:r>
            <a:r>
              <a:rPr lang="ar-EG" sz="1450" dirty="0">
                <a:solidFill>
                  <a:srgbClr val="FFFFFF"/>
                </a:solidFill>
                <a:latin typeface="Roboto" pitchFamily="34" charset="0"/>
                <a:ea typeface="Roboto" pitchFamily="34" charset="-122"/>
                <a:cs typeface="Roboto" pitchFamily="34" charset="-120"/>
              </a:rPr>
              <a:t>5</a:t>
            </a:r>
            <a:r>
              <a:rPr lang="en-US" sz="1450" dirty="0">
                <a:solidFill>
                  <a:srgbClr val="FFFFFF"/>
                </a:solidFill>
                <a:latin typeface="Roboto" pitchFamily="34" charset="0"/>
                <a:ea typeface="Roboto" pitchFamily="34" charset="-122"/>
                <a:cs typeface="Roboto" pitchFamily="34" charset="-120"/>
              </a:rPr>
              <a:t> F1-score. Train and test metrics are nearly identical, confirming the model generalizes well without overfitting.</a:t>
            </a:r>
            <a:endParaRPr lang="en-US" sz="1450" dirty="0"/>
          </a:p>
        </p:txBody>
      </p:sp>
      <p:pic>
        <p:nvPicPr>
          <p:cNvPr id="8" name="Picture 7">
            <a:extLst>
              <a:ext uri="{FF2B5EF4-FFF2-40B4-BE49-F238E27FC236}">
                <a16:creationId xmlns:a16="http://schemas.microsoft.com/office/drawing/2014/main" id="{BCA5F99D-C0CE-8EDC-D2B8-BFABE63FF441}"/>
              </a:ext>
            </a:extLst>
          </p:cNvPr>
          <p:cNvPicPr>
            <a:picLocks noChangeAspect="1"/>
          </p:cNvPicPr>
          <p:nvPr/>
        </p:nvPicPr>
        <p:blipFill>
          <a:blip r:embed="rId3"/>
          <a:stretch>
            <a:fillRect/>
          </a:stretch>
        </p:blipFill>
        <p:spPr>
          <a:xfrm>
            <a:off x="154696" y="1018382"/>
            <a:ext cx="6507362" cy="5399743"/>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ext 0"/>
          <p:cNvSpPr/>
          <p:nvPr/>
        </p:nvSpPr>
        <p:spPr>
          <a:xfrm>
            <a:off x="7084736" y="681236"/>
            <a:ext cx="4451735" cy="2057896"/>
          </a:xfrm>
          <a:prstGeom prst="rect">
            <a:avLst/>
          </a:prstGeom>
          <a:noFill/>
          <a:ln/>
        </p:spPr>
        <p:txBody>
          <a:bodyPr wrap="square" lIns="0" tIns="0" rIns="0" bIns="0" rtlCol="0" anchor="t">
            <a:normAutofit/>
          </a:bodyPr>
          <a:lstStyle/>
          <a:p>
            <a:pPr marL="0" indent="0" algn="l">
              <a:lnSpc>
                <a:spcPct val="123000"/>
              </a:lnSpc>
              <a:buNone/>
            </a:pPr>
            <a:r>
              <a:rPr lang="en-US" sz="1550" dirty="0">
                <a:solidFill>
                  <a:srgbClr val="FBFCFE"/>
                </a:solidFill>
                <a:latin typeface="Roboto" pitchFamily="34" charset="0"/>
                <a:ea typeface="Roboto" pitchFamily="34" charset="-122"/>
                <a:cs typeface="Roboto" pitchFamily="34" charset="-120"/>
              </a:rPr>
              <a:t>The Decision Tree scored 8</a:t>
            </a:r>
            <a:r>
              <a:rPr lang="ar-EG" sz="1550" dirty="0">
                <a:solidFill>
                  <a:srgbClr val="FBFCFE"/>
                </a:solidFill>
                <a:latin typeface="Roboto" pitchFamily="34" charset="0"/>
                <a:ea typeface="Roboto" pitchFamily="34" charset="-122"/>
                <a:cs typeface="Roboto" pitchFamily="34" charset="-120"/>
              </a:rPr>
              <a:t>6</a:t>
            </a:r>
            <a:r>
              <a:rPr lang="en-US" sz="1550" dirty="0">
                <a:solidFill>
                  <a:srgbClr val="FBFCFE"/>
                </a:solidFill>
                <a:latin typeface="Roboto" pitchFamily="34" charset="0"/>
                <a:ea typeface="Roboto" pitchFamily="34" charset="-122"/>
                <a:cs typeface="Roboto" pitchFamily="34" charset="-120"/>
              </a:rPr>
              <a:t>% test accuracy, marginally lower than Logistic Regression. Failure-class precision dropped to 0.</a:t>
            </a:r>
            <a:r>
              <a:rPr lang="ar-EG" sz="1550" dirty="0">
                <a:solidFill>
                  <a:srgbClr val="FBFCFE"/>
                </a:solidFill>
                <a:latin typeface="Roboto" pitchFamily="34" charset="0"/>
                <a:ea typeface="Roboto" pitchFamily="34" charset="-122"/>
                <a:cs typeface="Roboto" pitchFamily="34" charset="-120"/>
              </a:rPr>
              <a:t>73</a:t>
            </a:r>
            <a:r>
              <a:rPr lang="en-US" sz="1550" dirty="0">
                <a:solidFill>
                  <a:srgbClr val="FBFCFE"/>
                </a:solidFill>
                <a:latin typeface="Roboto" pitchFamily="34" charset="0"/>
                <a:ea typeface="Roboto" pitchFamily="34" charset="-122"/>
                <a:cs typeface="Roboto" pitchFamily="34" charset="-120"/>
              </a:rPr>
              <a:t>, and the gap between train accuracy (8</a:t>
            </a:r>
            <a:r>
              <a:rPr lang="ar-EG" sz="1550" dirty="0">
                <a:solidFill>
                  <a:srgbClr val="FBFCFE"/>
                </a:solidFill>
                <a:latin typeface="Roboto" pitchFamily="34" charset="0"/>
                <a:ea typeface="Roboto" pitchFamily="34" charset="-122"/>
                <a:cs typeface="Roboto" pitchFamily="34" charset="-120"/>
              </a:rPr>
              <a:t>7</a:t>
            </a:r>
            <a:r>
              <a:rPr lang="en-US" sz="1550" dirty="0">
                <a:solidFill>
                  <a:srgbClr val="FBFCFE"/>
                </a:solidFill>
                <a:latin typeface="Roboto" pitchFamily="34" charset="0"/>
                <a:ea typeface="Roboto" pitchFamily="34" charset="-122"/>
                <a:cs typeface="Roboto" pitchFamily="34" charset="-120"/>
              </a:rPr>
              <a:t>%) and test accuracy (8</a:t>
            </a:r>
            <a:r>
              <a:rPr lang="ar-EG" sz="1550" dirty="0">
                <a:solidFill>
                  <a:srgbClr val="FBFCFE"/>
                </a:solidFill>
                <a:latin typeface="Roboto" pitchFamily="34" charset="0"/>
                <a:ea typeface="Roboto" pitchFamily="34" charset="-122"/>
                <a:cs typeface="Roboto" pitchFamily="34" charset="-120"/>
              </a:rPr>
              <a:t>6</a:t>
            </a:r>
            <a:r>
              <a:rPr lang="en-US" sz="1550" dirty="0">
                <a:solidFill>
                  <a:srgbClr val="FBFCFE"/>
                </a:solidFill>
                <a:latin typeface="Roboto" pitchFamily="34" charset="0"/>
                <a:ea typeface="Roboto" pitchFamily="34" charset="-122"/>
                <a:cs typeface="Roboto" pitchFamily="34" charset="-120"/>
              </a:rPr>
              <a:t>%) is slightly wider than the previous model — a sign of mild overfitting typical of single decision trees.</a:t>
            </a:r>
            <a:endParaRPr lang="en-US" sz="1550" dirty="0"/>
          </a:p>
        </p:txBody>
      </p:sp>
      <p:pic>
        <p:nvPicPr>
          <p:cNvPr id="5" name="Picture 4">
            <a:extLst>
              <a:ext uri="{FF2B5EF4-FFF2-40B4-BE49-F238E27FC236}">
                <a16:creationId xmlns:a16="http://schemas.microsoft.com/office/drawing/2014/main" id="{89F9C6F8-249A-2EA7-2C56-52CB70EF1129}"/>
              </a:ext>
            </a:extLst>
          </p:cNvPr>
          <p:cNvPicPr>
            <a:picLocks noChangeAspect="1"/>
          </p:cNvPicPr>
          <p:nvPr/>
        </p:nvPicPr>
        <p:blipFill>
          <a:blip r:embed="rId3"/>
          <a:stretch>
            <a:fillRect/>
          </a:stretch>
        </p:blipFill>
        <p:spPr>
          <a:xfrm>
            <a:off x="761256" y="457076"/>
            <a:ext cx="5334744" cy="5943847"/>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ext 0"/>
          <p:cNvSpPr/>
          <p:nvPr/>
        </p:nvSpPr>
        <p:spPr>
          <a:xfrm>
            <a:off x="6968058" y="680740"/>
            <a:ext cx="4568413" cy="2575322"/>
          </a:xfrm>
          <a:prstGeom prst="rect">
            <a:avLst/>
          </a:prstGeom>
          <a:noFill/>
          <a:ln/>
        </p:spPr>
        <p:txBody>
          <a:bodyPr wrap="square" lIns="0" tIns="0" rIns="0" bIns="0" rtlCol="0" anchor="t">
            <a:normAutofit/>
          </a:bodyPr>
          <a:lstStyle/>
          <a:p>
            <a:pPr marL="0" indent="0" algn="l">
              <a:lnSpc>
                <a:spcPct val="122000"/>
              </a:lnSpc>
              <a:buNone/>
            </a:pPr>
            <a:r>
              <a:rPr lang="en-US" sz="1500" dirty="0">
                <a:solidFill>
                  <a:srgbClr val="FBFCFE"/>
                </a:solidFill>
                <a:latin typeface="Roboto" pitchFamily="34" charset="0"/>
                <a:ea typeface="Roboto" pitchFamily="34" charset="-122"/>
                <a:cs typeface="Roboto" pitchFamily="34" charset="-120"/>
              </a:rPr>
              <a:t>test performance drops to 88% accuracy and 0.7</a:t>
            </a:r>
            <a:r>
              <a:rPr lang="ar-EG" sz="1500" dirty="0">
                <a:solidFill>
                  <a:srgbClr val="FBFCFE"/>
                </a:solidFill>
                <a:latin typeface="Roboto" pitchFamily="34" charset="0"/>
                <a:ea typeface="Roboto" pitchFamily="34" charset="-122"/>
                <a:cs typeface="Roboto" pitchFamily="34" charset="-120"/>
              </a:rPr>
              <a:t>1</a:t>
            </a:r>
            <a:r>
              <a:rPr lang="en-US" sz="1500" dirty="0">
                <a:solidFill>
                  <a:srgbClr val="FBFCFE"/>
                </a:solidFill>
                <a:latin typeface="Roboto" pitchFamily="34" charset="0"/>
                <a:ea typeface="Roboto" pitchFamily="34" charset="-122"/>
                <a:cs typeface="Roboto" pitchFamily="34" charset="-120"/>
              </a:rPr>
              <a:t> F1-score on the Failure class. This large train-test gap is a textbook overfitting signal — the model fits the training data almost exactly but loses some generalization power on unseen data. Despite this, its test performance still slightly outperforms both Logistic Regression and Decision Tree on the minority class.</a:t>
            </a:r>
            <a:endParaRPr lang="en-US" sz="1500" dirty="0"/>
          </a:p>
        </p:txBody>
      </p:sp>
      <p:pic>
        <p:nvPicPr>
          <p:cNvPr id="5" name="Picture 4">
            <a:extLst>
              <a:ext uri="{FF2B5EF4-FFF2-40B4-BE49-F238E27FC236}">
                <a16:creationId xmlns:a16="http://schemas.microsoft.com/office/drawing/2014/main" id="{1529F0EE-8EA6-BC27-F365-DA9FC150E36E}"/>
              </a:ext>
            </a:extLst>
          </p:cNvPr>
          <p:cNvPicPr>
            <a:picLocks noChangeAspect="1"/>
          </p:cNvPicPr>
          <p:nvPr/>
        </p:nvPicPr>
        <p:blipFill>
          <a:blip r:embed="rId3"/>
          <a:stretch>
            <a:fillRect/>
          </a:stretch>
        </p:blipFill>
        <p:spPr>
          <a:xfrm>
            <a:off x="346133" y="149289"/>
            <a:ext cx="5210902" cy="6399126"/>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3" name="Text 0"/>
          <p:cNvSpPr/>
          <p:nvPr/>
        </p:nvSpPr>
        <p:spPr>
          <a:xfrm>
            <a:off x="7418103" y="646410"/>
            <a:ext cx="4118368" cy="2289175"/>
          </a:xfrm>
          <a:prstGeom prst="rect">
            <a:avLst/>
          </a:prstGeom>
          <a:noFill/>
          <a:ln/>
        </p:spPr>
        <p:txBody>
          <a:bodyPr wrap="square" lIns="0" tIns="0" rIns="0" bIns="0" rtlCol="0" anchor="t">
            <a:normAutofit/>
          </a:bodyPr>
          <a:lstStyle/>
          <a:p>
            <a:pPr marL="0" indent="0" algn="l">
              <a:lnSpc>
                <a:spcPct val="122000"/>
              </a:lnSpc>
              <a:buNone/>
            </a:pPr>
            <a:r>
              <a:rPr lang="en-US" sz="1500" dirty="0">
                <a:solidFill>
                  <a:srgbClr val="FBFCFE"/>
                </a:solidFill>
                <a:latin typeface="Roboto" pitchFamily="34" charset="0"/>
                <a:ea typeface="Roboto" pitchFamily="34" charset="-122"/>
                <a:cs typeface="Roboto" pitchFamily="34" charset="-120"/>
              </a:rPr>
              <a:t>Gradient Boosting matches Random Forest's test accuracy (8</a:t>
            </a:r>
            <a:r>
              <a:rPr lang="ar-EG" sz="1500" dirty="0">
                <a:solidFill>
                  <a:srgbClr val="FBFCFE"/>
                </a:solidFill>
                <a:latin typeface="Roboto" pitchFamily="34" charset="0"/>
                <a:ea typeface="Roboto" pitchFamily="34" charset="-122"/>
                <a:cs typeface="Roboto" pitchFamily="34" charset="-120"/>
              </a:rPr>
              <a:t>9</a:t>
            </a:r>
            <a:r>
              <a:rPr lang="en-US" sz="1500" dirty="0">
                <a:solidFill>
                  <a:srgbClr val="FBFCFE"/>
                </a:solidFill>
                <a:latin typeface="Roboto" pitchFamily="34" charset="0"/>
                <a:ea typeface="Roboto" pitchFamily="34" charset="-122"/>
                <a:cs typeface="Roboto" pitchFamily="34" charset="-120"/>
              </a:rPr>
              <a:t>%) but with far better generalization — train accuracy (89%) is nearly identical to test accuracy, showing no overfitting. It also achieves the best precision on the Failure class so far (0.</a:t>
            </a:r>
            <a:r>
              <a:rPr lang="ar-EG" sz="1500" dirty="0">
                <a:solidFill>
                  <a:srgbClr val="FBFCFE"/>
                </a:solidFill>
                <a:latin typeface="Roboto" pitchFamily="34" charset="0"/>
                <a:ea typeface="Roboto" pitchFamily="34" charset="-122"/>
                <a:cs typeface="Roboto" pitchFamily="34" charset="-120"/>
              </a:rPr>
              <a:t>8</a:t>
            </a:r>
            <a:r>
              <a:rPr lang="en-US" sz="1500" dirty="0">
                <a:solidFill>
                  <a:srgbClr val="FBFCFE"/>
                </a:solidFill>
                <a:latin typeface="Roboto" pitchFamily="34" charset="0"/>
                <a:ea typeface="Roboto" pitchFamily="34" charset="-122"/>
                <a:cs typeface="Roboto" pitchFamily="34" charset="-120"/>
              </a:rPr>
              <a:t>), making it one of the more balanced and reliable models in this comparison.</a:t>
            </a:r>
            <a:endParaRPr lang="en-US" sz="1500" dirty="0"/>
          </a:p>
        </p:txBody>
      </p:sp>
      <p:pic>
        <p:nvPicPr>
          <p:cNvPr id="5" name="Picture 4">
            <a:extLst>
              <a:ext uri="{FF2B5EF4-FFF2-40B4-BE49-F238E27FC236}">
                <a16:creationId xmlns:a16="http://schemas.microsoft.com/office/drawing/2014/main" id="{9C610A43-F495-E952-54DE-06C56748C9C3}"/>
              </a:ext>
            </a:extLst>
          </p:cNvPr>
          <p:cNvPicPr>
            <a:picLocks noChangeAspect="1"/>
          </p:cNvPicPr>
          <p:nvPr/>
        </p:nvPicPr>
        <p:blipFill>
          <a:blip r:embed="rId3"/>
          <a:stretch>
            <a:fillRect/>
          </a:stretch>
        </p:blipFill>
        <p:spPr>
          <a:xfrm>
            <a:off x="761256" y="102287"/>
            <a:ext cx="5334744" cy="6392167"/>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3" name="Text 0"/>
          <p:cNvSpPr/>
          <p:nvPr/>
        </p:nvSpPr>
        <p:spPr>
          <a:xfrm>
            <a:off x="7755636" y="670917"/>
            <a:ext cx="3780834" cy="2289175"/>
          </a:xfrm>
          <a:prstGeom prst="rect">
            <a:avLst/>
          </a:prstGeom>
          <a:noFill/>
          <a:ln/>
        </p:spPr>
        <p:txBody>
          <a:bodyPr wrap="square" lIns="0" tIns="0" rIns="0" bIns="0" rtlCol="0" anchor="t">
            <a:normAutofit/>
          </a:bodyPr>
          <a:lstStyle/>
          <a:p>
            <a:pPr marL="0" indent="0" algn="l">
              <a:lnSpc>
                <a:spcPct val="122000"/>
              </a:lnSpc>
              <a:buNone/>
            </a:pPr>
            <a:r>
              <a:rPr lang="en-US" sz="1500" dirty="0">
                <a:solidFill>
                  <a:srgbClr val="FBFCFE"/>
                </a:solidFill>
                <a:latin typeface="Roboto" pitchFamily="34" charset="0"/>
                <a:ea typeface="Roboto" pitchFamily="34" charset="-122"/>
                <a:cs typeface="Roboto" pitchFamily="34" charset="-120"/>
              </a:rPr>
              <a:t>AdaBoost achieved 8</a:t>
            </a:r>
            <a:r>
              <a:rPr lang="ar-EG" sz="1500" dirty="0">
                <a:solidFill>
                  <a:srgbClr val="FBFCFE"/>
                </a:solidFill>
                <a:latin typeface="Roboto" pitchFamily="34" charset="0"/>
                <a:ea typeface="Roboto" pitchFamily="34" charset="-122"/>
                <a:cs typeface="Roboto" pitchFamily="34" charset="-120"/>
              </a:rPr>
              <a:t>9</a:t>
            </a:r>
            <a:r>
              <a:rPr lang="en-US" sz="1500" dirty="0">
                <a:solidFill>
                  <a:srgbClr val="FBFCFE"/>
                </a:solidFill>
                <a:latin typeface="Roboto" pitchFamily="34" charset="0"/>
                <a:ea typeface="Roboto" pitchFamily="34" charset="-122"/>
                <a:cs typeface="Roboto" pitchFamily="34" charset="-120"/>
              </a:rPr>
              <a:t>% test accuracy with virtually no gap between train (8</a:t>
            </a:r>
            <a:r>
              <a:rPr lang="ar-EG" sz="1500" dirty="0">
                <a:solidFill>
                  <a:srgbClr val="FBFCFE"/>
                </a:solidFill>
                <a:latin typeface="Roboto" pitchFamily="34" charset="0"/>
                <a:ea typeface="Roboto" pitchFamily="34" charset="-122"/>
                <a:cs typeface="Roboto" pitchFamily="34" charset="-120"/>
              </a:rPr>
              <a:t>9</a:t>
            </a:r>
            <a:r>
              <a:rPr lang="en-US" sz="1500" dirty="0">
                <a:solidFill>
                  <a:srgbClr val="FBFCFE"/>
                </a:solidFill>
                <a:latin typeface="Roboto" pitchFamily="34" charset="0"/>
                <a:ea typeface="Roboto" pitchFamily="34" charset="-122"/>
                <a:cs typeface="Roboto" pitchFamily="34" charset="-120"/>
              </a:rPr>
              <a:t>%) and test performance, confirming strong generalization. Its Failure-class F1-score of 0.7</a:t>
            </a:r>
            <a:r>
              <a:rPr lang="ar-EG" sz="1500" dirty="0">
                <a:solidFill>
                  <a:srgbClr val="FBFCFE"/>
                </a:solidFill>
                <a:latin typeface="Roboto" pitchFamily="34" charset="0"/>
                <a:ea typeface="Roboto" pitchFamily="34" charset="-122"/>
                <a:cs typeface="Roboto" pitchFamily="34" charset="-120"/>
              </a:rPr>
              <a:t>5</a:t>
            </a:r>
            <a:r>
              <a:rPr lang="en-US" sz="1500" dirty="0">
                <a:solidFill>
                  <a:srgbClr val="FBFCFE"/>
                </a:solidFill>
                <a:latin typeface="Roboto" pitchFamily="34" charset="0"/>
                <a:ea typeface="Roboto" pitchFamily="34" charset="-122"/>
                <a:cs typeface="Roboto" pitchFamily="34" charset="-120"/>
              </a:rPr>
              <a:t> is the highest recorded so far, driven by a solid 0.</a:t>
            </a:r>
            <a:r>
              <a:rPr lang="ar-EG" sz="1500" dirty="0">
                <a:solidFill>
                  <a:srgbClr val="FBFCFE"/>
                </a:solidFill>
                <a:latin typeface="Roboto" pitchFamily="34" charset="0"/>
                <a:ea typeface="Roboto" pitchFamily="34" charset="-122"/>
                <a:cs typeface="Roboto" pitchFamily="34" charset="-120"/>
              </a:rPr>
              <a:t>7</a:t>
            </a:r>
            <a:r>
              <a:rPr lang="en-US" sz="1500" dirty="0">
                <a:solidFill>
                  <a:srgbClr val="FBFCFE"/>
                </a:solidFill>
                <a:latin typeface="Roboto" pitchFamily="34" charset="0"/>
                <a:ea typeface="Roboto" pitchFamily="34" charset="-122"/>
                <a:cs typeface="Roboto" pitchFamily="34" charset="-120"/>
              </a:rPr>
              <a:t>2 recall — meaning it catches more actual failure cases than any previous model.</a:t>
            </a:r>
            <a:endParaRPr lang="en-US" sz="1500" dirty="0"/>
          </a:p>
        </p:txBody>
      </p:sp>
      <p:pic>
        <p:nvPicPr>
          <p:cNvPr id="5" name="Picture 4">
            <a:extLst>
              <a:ext uri="{FF2B5EF4-FFF2-40B4-BE49-F238E27FC236}">
                <a16:creationId xmlns:a16="http://schemas.microsoft.com/office/drawing/2014/main" id="{D6E24F77-AEF9-0A0D-6894-EC7497C37FD6}"/>
              </a:ext>
            </a:extLst>
          </p:cNvPr>
          <p:cNvPicPr>
            <a:picLocks noChangeAspect="1"/>
          </p:cNvPicPr>
          <p:nvPr/>
        </p:nvPicPr>
        <p:blipFill>
          <a:blip r:embed="rId3"/>
          <a:stretch>
            <a:fillRect/>
          </a:stretch>
        </p:blipFill>
        <p:spPr>
          <a:xfrm>
            <a:off x="655530" y="137653"/>
            <a:ext cx="4982270" cy="6582694"/>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3" name="Text 0"/>
          <p:cNvSpPr/>
          <p:nvPr/>
        </p:nvSpPr>
        <p:spPr>
          <a:xfrm>
            <a:off x="6723688" y="619026"/>
            <a:ext cx="4812783" cy="1736328"/>
          </a:xfrm>
          <a:prstGeom prst="rect">
            <a:avLst/>
          </a:prstGeom>
          <a:noFill/>
          <a:ln/>
        </p:spPr>
        <p:txBody>
          <a:bodyPr wrap="square" lIns="0" tIns="0" rIns="0" bIns="0" rtlCol="0" anchor="t">
            <a:normAutofit/>
          </a:bodyPr>
          <a:lstStyle/>
          <a:p>
            <a:pPr marL="0" indent="0" algn="l">
              <a:lnSpc>
                <a:spcPct val="117000"/>
              </a:lnSpc>
              <a:buNone/>
            </a:pPr>
            <a:r>
              <a:rPr lang="en-US" sz="1350" dirty="0">
                <a:solidFill>
                  <a:srgbClr val="FBFCFE"/>
                </a:solidFill>
                <a:latin typeface="Roboto" pitchFamily="34" charset="0"/>
                <a:ea typeface="Roboto" pitchFamily="34" charset="-122"/>
                <a:cs typeface="Roboto" pitchFamily="34" charset="-120"/>
              </a:rPr>
              <a:t>XGBoost shows a noticeable gap between train (95%) and test (88%) accuracy, indicating moderate overfitting — less severe than Random Forest's, but still present. On the test set, it achieves the highest Failure-class precision so far (0.76), though its recall (0.74) is slightly lower than AdaBoost and Gradient Boosting, resulting in a comparable F1-score of 0.75.</a:t>
            </a:r>
            <a:endParaRPr lang="en-US" sz="1350" dirty="0"/>
          </a:p>
        </p:txBody>
      </p:sp>
      <p:pic>
        <p:nvPicPr>
          <p:cNvPr id="5" name="Picture 4">
            <a:extLst>
              <a:ext uri="{FF2B5EF4-FFF2-40B4-BE49-F238E27FC236}">
                <a16:creationId xmlns:a16="http://schemas.microsoft.com/office/drawing/2014/main" id="{D12D26EA-6634-2ABF-F3BF-23718FADA864}"/>
              </a:ext>
            </a:extLst>
          </p:cNvPr>
          <p:cNvPicPr>
            <a:picLocks noChangeAspect="1"/>
          </p:cNvPicPr>
          <p:nvPr/>
        </p:nvPicPr>
        <p:blipFill>
          <a:blip r:embed="rId3"/>
          <a:stretch>
            <a:fillRect/>
          </a:stretch>
        </p:blipFill>
        <p:spPr>
          <a:xfrm>
            <a:off x="655529" y="156706"/>
            <a:ext cx="5039428" cy="6544588"/>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3" name="Text 0"/>
          <p:cNvSpPr/>
          <p:nvPr/>
        </p:nvSpPr>
        <p:spPr>
          <a:xfrm>
            <a:off x="6859614" y="656332"/>
            <a:ext cx="4676856" cy="2351881"/>
          </a:xfrm>
          <a:prstGeom prst="rect">
            <a:avLst/>
          </a:prstGeom>
          <a:noFill/>
          <a:ln/>
        </p:spPr>
        <p:txBody>
          <a:bodyPr wrap="square" lIns="0" tIns="0" rIns="0" bIns="0" rtlCol="0" anchor="t">
            <a:normAutofit/>
          </a:bodyPr>
          <a:lstStyle/>
          <a:p>
            <a:pPr marL="0" indent="0" algn="l">
              <a:lnSpc>
                <a:spcPct val="123000"/>
              </a:lnSpc>
              <a:buNone/>
            </a:pPr>
            <a:r>
              <a:rPr lang="en-US" sz="1550" dirty="0">
                <a:solidFill>
                  <a:srgbClr val="FBFCFE"/>
                </a:solidFill>
                <a:latin typeface="Roboto" pitchFamily="34" charset="0"/>
                <a:ea typeface="Roboto" pitchFamily="34" charset="-122"/>
                <a:cs typeface="Roboto" pitchFamily="34" charset="-120"/>
              </a:rPr>
              <a:t>KNN shows the weakest overall performance, with test accuracy falling to </a:t>
            </a:r>
            <a:r>
              <a:rPr lang="ar-EG" sz="1550" dirty="0">
                <a:solidFill>
                  <a:srgbClr val="FBFCFE"/>
                </a:solidFill>
                <a:latin typeface="Roboto" pitchFamily="34" charset="0"/>
                <a:ea typeface="Roboto" pitchFamily="34" charset="-122"/>
                <a:cs typeface="Roboto" pitchFamily="34" charset="-120"/>
              </a:rPr>
              <a:t>85</a:t>
            </a:r>
            <a:r>
              <a:rPr lang="en-US" sz="1550" dirty="0">
                <a:solidFill>
                  <a:srgbClr val="FBFCFE"/>
                </a:solidFill>
                <a:latin typeface="Roboto" pitchFamily="34" charset="0"/>
                <a:ea typeface="Roboto" pitchFamily="34" charset="-122"/>
                <a:cs typeface="Roboto" pitchFamily="34" charset="-120"/>
              </a:rPr>
              <a:t>%. While it catches most actual failure cases (0.</a:t>
            </a:r>
            <a:r>
              <a:rPr lang="ar-EG" sz="1550" dirty="0">
                <a:solidFill>
                  <a:srgbClr val="FBFCFE"/>
                </a:solidFill>
                <a:latin typeface="Roboto" pitchFamily="34" charset="0"/>
                <a:ea typeface="Roboto" pitchFamily="34" charset="-122"/>
                <a:cs typeface="Roboto" pitchFamily="34" charset="-120"/>
              </a:rPr>
              <a:t>61</a:t>
            </a:r>
            <a:r>
              <a:rPr lang="en-US" sz="1550" dirty="0">
                <a:solidFill>
                  <a:srgbClr val="FBFCFE"/>
                </a:solidFill>
                <a:latin typeface="Roboto" pitchFamily="34" charset="0"/>
                <a:ea typeface="Roboto" pitchFamily="34" charset="-122"/>
                <a:cs typeface="Roboto" pitchFamily="34" charset="-120"/>
              </a:rPr>
              <a:t> recall), its precision on the Failure class drops sharply to 0.</a:t>
            </a:r>
            <a:r>
              <a:rPr lang="ar-EG" sz="1550" dirty="0">
                <a:solidFill>
                  <a:srgbClr val="FBFCFE"/>
                </a:solidFill>
                <a:latin typeface="Roboto" pitchFamily="34" charset="0"/>
                <a:ea typeface="Roboto" pitchFamily="34" charset="-122"/>
                <a:cs typeface="Roboto" pitchFamily="34" charset="-120"/>
              </a:rPr>
              <a:t>74</a:t>
            </a:r>
            <a:r>
              <a:rPr lang="en-US" sz="1550" dirty="0">
                <a:solidFill>
                  <a:srgbClr val="FBFCFE"/>
                </a:solidFill>
                <a:latin typeface="Roboto" pitchFamily="34" charset="0"/>
                <a:ea typeface="Roboto" pitchFamily="34" charset="-122"/>
                <a:cs typeface="Roboto" pitchFamily="34" charset="-120"/>
              </a:rPr>
              <a:t> — meaning nearly half of its failure predictions are false positives.</a:t>
            </a:r>
            <a:r>
              <a:rPr lang="ar-EG" sz="1550" dirty="0">
                <a:solidFill>
                  <a:srgbClr val="FBFCFE"/>
                </a:solidFill>
                <a:latin typeface="Roboto" pitchFamily="34" charset="0"/>
                <a:ea typeface="Roboto" pitchFamily="34" charset="-122"/>
                <a:cs typeface="Roboto" pitchFamily="34" charset="-120"/>
              </a:rPr>
              <a:t>\</a:t>
            </a:r>
            <a:endParaRPr lang="en-US" sz="1550" dirty="0"/>
          </a:p>
        </p:txBody>
      </p:sp>
      <p:pic>
        <p:nvPicPr>
          <p:cNvPr id="5" name="Picture 4">
            <a:extLst>
              <a:ext uri="{FF2B5EF4-FFF2-40B4-BE49-F238E27FC236}">
                <a16:creationId xmlns:a16="http://schemas.microsoft.com/office/drawing/2014/main" id="{8F159B56-9F0F-38C0-17FA-E0EAF71900F1}"/>
              </a:ext>
            </a:extLst>
          </p:cNvPr>
          <p:cNvPicPr>
            <a:picLocks noChangeAspect="1"/>
          </p:cNvPicPr>
          <p:nvPr/>
        </p:nvPicPr>
        <p:blipFill>
          <a:blip r:embed="rId3"/>
          <a:stretch>
            <a:fillRect/>
          </a:stretch>
        </p:blipFill>
        <p:spPr>
          <a:xfrm>
            <a:off x="445246" y="151942"/>
            <a:ext cx="5553850" cy="6554115"/>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3" name="Text 0"/>
          <p:cNvSpPr/>
          <p:nvPr/>
        </p:nvSpPr>
        <p:spPr>
          <a:xfrm>
            <a:off x="7723887" y="609997"/>
            <a:ext cx="3812584" cy="1634927"/>
          </a:xfrm>
          <a:prstGeom prst="rect">
            <a:avLst/>
          </a:prstGeom>
          <a:noFill/>
          <a:ln/>
        </p:spPr>
        <p:txBody>
          <a:bodyPr wrap="square" lIns="0" tIns="0" rIns="0" bIns="0" rtlCol="0" anchor="t">
            <a:normAutofit/>
          </a:bodyPr>
          <a:lstStyle/>
          <a:p>
            <a:pPr marL="0" indent="0" algn="l">
              <a:lnSpc>
                <a:spcPct val="115000"/>
              </a:lnSpc>
              <a:buNone/>
            </a:pPr>
            <a:r>
              <a:rPr lang="en-US" sz="1300" dirty="0">
                <a:solidFill>
                  <a:srgbClr val="FBFCFE"/>
                </a:solidFill>
                <a:latin typeface="Roboto" pitchFamily="34" charset="0"/>
                <a:ea typeface="Roboto" pitchFamily="34" charset="-122"/>
                <a:cs typeface="Roboto" pitchFamily="34" charset="-120"/>
              </a:rPr>
              <a:t>The MLP reached 8</a:t>
            </a:r>
            <a:r>
              <a:rPr lang="ar-EG" sz="1300" dirty="0">
                <a:solidFill>
                  <a:srgbClr val="FBFCFE"/>
                </a:solidFill>
                <a:latin typeface="Roboto" pitchFamily="34" charset="0"/>
                <a:ea typeface="Roboto" pitchFamily="34" charset="-122"/>
                <a:cs typeface="Roboto" pitchFamily="34" charset="-120"/>
              </a:rPr>
              <a:t>9</a:t>
            </a:r>
            <a:r>
              <a:rPr lang="en-US" sz="1300" dirty="0">
                <a:solidFill>
                  <a:srgbClr val="FBFCFE"/>
                </a:solidFill>
                <a:latin typeface="Roboto" pitchFamily="34" charset="0"/>
                <a:ea typeface="Roboto" pitchFamily="34" charset="-122"/>
                <a:cs typeface="Roboto" pitchFamily="34" charset="-120"/>
              </a:rPr>
              <a:t>% test accuracy, indicating no serious overfitting. Its Failure-class recall (0.</a:t>
            </a:r>
            <a:r>
              <a:rPr lang="ar-EG" sz="1300" dirty="0">
                <a:solidFill>
                  <a:srgbClr val="FBFCFE"/>
                </a:solidFill>
                <a:latin typeface="Roboto" pitchFamily="34" charset="0"/>
                <a:ea typeface="Roboto" pitchFamily="34" charset="-122"/>
                <a:cs typeface="Roboto" pitchFamily="34" charset="-120"/>
              </a:rPr>
              <a:t>745</a:t>
            </a:r>
            <a:r>
              <a:rPr lang="en-US" sz="1300" dirty="0">
                <a:solidFill>
                  <a:srgbClr val="FBFCFE"/>
                </a:solidFill>
                <a:latin typeface="Roboto" pitchFamily="34" charset="0"/>
                <a:ea typeface="Roboto" pitchFamily="34" charset="-122"/>
                <a:cs typeface="Roboto" pitchFamily="34" charset="-120"/>
              </a:rPr>
              <a:t>) is solid, but precision (0.</a:t>
            </a:r>
            <a:r>
              <a:rPr lang="ar-EG" sz="1300" dirty="0">
                <a:solidFill>
                  <a:srgbClr val="FBFCFE"/>
                </a:solidFill>
                <a:latin typeface="Roboto" pitchFamily="34" charset="0"/>
                <a:ea typeface="Roboto" pitchFamily="34" charset="-122"/>
                <a:cs typeface="Roboto" pitchFamily="34" charset="-120"/>
              </a:rPr>
              <a:t>77</a:t>
            </a:r>
            <a:r>
              <a:rPr lang="en-US" sz="1300" dirty="0">
                <a:solidFill>
                  <a:srgbClr val="FBFCFE"/>
                </a:solidFill>
                <a:latin typeface="Roboto" pitchFamily="34" charset="0"/>
                <a:ea typeface="Roboto" pitchFamily="34" charset="-122"/>
                <a:cs typeface="Roboto" pitchFamily="34" charset="-120"/>
              </a:rPr>
              <a:t>) is lower than most tree-based models, resulting in an F1-score of 0.7</a:t>
            </a:r>
            <a:r>
              <a:rPr lang="ar-EG" sz="1300" dirty="0">
                <a:solidFill>
                  <a:srgbClr val="FBFCFE"/>
                </a:solidFill>
                <a:latin typeface="Roboto" pitchFamily="34" charset="0"/>
                <a:ea typeface="Roboto" pitchFamily="34" charset="-122"/>
                <a:cs typeface="Roboto" pitchFamily="34" charset="-120"/>
              </a:rPr>
              <a:t>6</a:t>
            </a:r>
            <a:r>
              <a:rPr lang="en-US" sz="1300" dirty="0">
                <a:solidFill>
                  <a:srgbClr val="FBFCFE"/>
                </a:solidFill>
                <a:latin typeface="Roboto" pitchFamily="34" charset="0"/>
                <a:ea typeface="Roboto" pitchFamily="34" charset="-122"/>
                <a:cs typeface="Roboto" pitchFamily="34" charset="-120"/>
              </a:rPr>
              <a:t> — respectable, but not the top performer in this comparison.</a:t>
            </a:r>
            <a:endParaRPr lang="en-US" sz="1300" dirty="0"/>
          </a:p>
        </p:txBody>
      </p:sp>
      <p:pic>
        <p:nvPicPr>
          <p:cNvPr id="5" name="Picture 4">
            <a:extLst>
              <a:ext uri="{FF2B5EF4-FFF2-40B4-BE49-F238E27FC236}">
                <a16:creationId xmlns:a16="http://schemas.microsoft.com/office/drawing/2014/main" id="{822054BA-84B6-2589-7167-E1071A408AC5}"/>
              </a:ext>
            </a:extLst>
          </p:cNvPr>
          <p:cNvPicPr>
            <a:picLocks noChangeAspect="1"/>
          </p:cNvPicPr>
          <p:nvPr/>
        </p:nvPicPr>
        <p:blipFill>
          <a:blip r:embed="rId3"/>
          <a:stretch>
            <a:fillRect/>
          </a:stretch>
        </p:blipFill>
        <p:spPr>
          <a:xfrm>
            <a:off x="493335" y="0"/>
            <a:ext cx="5868219" cy="6668431"/>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661475" y="567134"/>
            <a:ext cx="10868745" cy="415330"/>
          </a:xfrm>
          <a:prstGeom prst="rect">
            <a:avLst/>
          </a:prstGeom>
          <a:noFill/>
          <a:ln/>
        </p:spPr>
        <p:txBody>
          <a:bodyPr wrap="none" lIns="0" tIns="0" rIns="0" bIns="0" rtlCol="0" anchor="t"/>
          <a:lstStyle/>
          <a:p>
            <a:pPr marL="0" indent="0" algn="l">
              <a:lnSpc>
                <a:spcPct val="104000"/>
              </a:lnSpc>
              <a:buNone/>
            </a:pPr>
            <a:r>
              <a:rPr lang="en-US" sz="2600" dirty="0">
                <a:solidFill>
                  <a:srgbClr val="F9D933"/>
                </a:solidFill>
                <a:latin typeface="Roboto Slab" pitchFamily="34" charset="0"/>
                <a:ea typeface="Roboto Slab" pitchFamily="34" charset="-122"/>
                <a:cs typeface="Roboto Slab" pitchFamily="34" charset="-120"/>
              </a:rPr>
              <a:t>Model Comparison</a:t>
            </a:r>
            <a:endParaRPr lang="en-US" sz="2600" dirty="0"/>
          </a:p>
        </p:txBody>
      </p:sp>
      <p:sp>
        <p:nvSpPr>
          <p:cNvPr id="4" name="Text 1"/>
          <p:cNvSpPr/>
          <p:nvPr/>
        </p:nvSpPr>
        <p:spPr>
          <a:xfrm>
            <a:off x="7831239" y="1206599"/>
            <a:ext cx="3705232" cy="1583531"/>
          </a:xfrm>
          <a:prstGeom prst="rect">
            <a:avLst/>
          </a:prstGeom>
          <a:noFill/>
          <a:ln/>
        </p:spPr>
        <p:txBody>
          <a:bodyPr wrap="square" lIns="0" tIns="0" rIns="0" bIns="0" rtlCol="0" anchor="t">
            <a:normAutofit/>
          </a:bodyPr>
          <a:lstStyle/>
          <a:p>
            <a:pPr marL="0" indent="0" algn="l">
              <a:lnSpc>
                <a:spcPct val="114000"/>
              </a:lnSpc>
              <a:buNone/>
            </a:pPr>
            <a:r>
              <a:rPr lang="en-US" sz="1300" dirty="0">
                <a:solidFill>
                  <a:srgbClr val="FBFCFE"/>
                </a:solidFill>
                <a:latin typeface="Roboto" pitchFamily="34" charset="0"/>
                <a:ea typeface="Roboto" pitchFamily="34" charset="-122"/>
                <a:cs typeface="Roboto" pitchFamily="34" charset="-120"/>
              </a:rPr>
              <a:t>AdaBoost, MLP, and Logistic Regression deliver the most consistent results, with test accuracy clustered around 87-89% and minimal gap from their training performance. Random Forest and XGBoost post competitive accuracy but show clear signs of overfitting, while KNN trails behind with the weakest generalization.</a:t>
            </a:r>
            <a:endParaRPr lang="en-US" sz="1300" dirty="0"/>
          </a:p>
        </p:txBody>
      </p:sp>
      <p:sp>
        <p:nvSpPr>
          <p:cNvPr id="5" name="Text 2"/>
          <p:cNvSpPr/>
          <p:nvPr/>
        </p:nvSpPr>
        <p:spPr>
          <a:xfrm>
            <a:off x="661475" y="5823645"/>
            <a:ext cx="10868745" cy="467221"/>
          </a:xfrm>
          <a:prstGeom prst="rect">
            <a:avLst/>
          </a:prstGeom>
          <a:noFill/>
          <a:ln/>
        </p:spPr>
        <p:txBody>
          <a:bodyPr wrap="square" lIns="0" tIns="0" rIns="0" bIns="0" rtlCol="0" anchor="t"/>
          <a:lstStyle/>
          <a:p>
            <a:pPr marL="0" indent="0" algn="l">
              <a:lnSpc>
                <a:spcPct val="114000"/>
              </a:lnSpc>
              <a:spcAft>
                <a:spcPts val="800"/>
              </a:spcAft>
              <a:buNone/>
            </a:pPr>
            <a:endParaRPr lang="en-US" sz="1000" dirty="0"/>
          </a:p>
        </p:txBody>
      </p:sp>
      <p:pic>
        <p:nvPicPr>
          <p:cNvPr id="7" name="Picture 6">
            <a:extLst>
              <a:ext uri="{FF2B5EF4-FFF2-40B4-BE49-F238E27FC236}">
                <a16:creationId xmlns:a16="http://schemas.microsoft.com/office/drawing/2014/main" id="{740C6C27-1AC8-33F8-22BC-ABB2D4D4E9CD}"/>
              </a:ext>
            </a:extLst>
          </p:cNvPr>
          <p:cNvPicPr>
            <a:picLocks noChangeAspect="1"/>
          </p:cNvPicPr>
          <p:nvPr/>
        </p:nvPicPr>
        <p:blipFill>
          <a:blip r:embed="rId3"/>
          <a:stretch>
            <a:fillRect/>
          </a:stretch>
        </p:blipFill>
        <p:spPr>
          <a:xfrm>
            <a:off x="251927" y="1206599"/>
            <a:ext cx="6885991" cy="2638793"/>
          </a:xfrm>
          <a:prstGeom prst="rect">
            <a:avLst/>
          </a:prstGeom>
        </p:spPr>
      </p:pic>
      <p:pic>
        <p:nvPicPr>
          <p:cNvPr id="9" name="Picture 8">
            <a:extLst>
              <a:ext uri="{FF2B5EF4-FFF2-40B4-BE49-F238E27FC236}">
                <a16:creationId xmlns:a16="http://schemas.microsoft.com/office/drawing/2014/main" id="{475DD3B8-19BE-9021-6DC9-2B2DD8E78231}"/>
              </a:ext>
            </a:extLst>
          </p:cNvPr>
          <p:cNvPicPr>
            <a:picLocks noChangeAspect="1"/>
          </p:cNvPicPr>
          <p:nvPr/>
        </p:nvPicPr>
        <p:blipFill>
          <a:blip r:embed="rId4"/>
          <a:stretch>
            <a:fillRect/>
          </a:stretch>
        </p:blipFill>
        <p:spPr>
          <a:xfrm>
            <a:off x="251927" y="3964888"/>
            <a:ext cx="6885991" cy="254788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661475" y="527248"/>
            <a:ext cx="10868745" cy="341412"/>
          </a:xfrm>
          <a:prstGeom prst="rect">
            <a:avLst/>
          </a:prstGeom>
          <a:noFill/>
          <a:ln/>
        </p:spPr>
        <p:txBody>
          <a:bodyPr wrap="none" lIns="0" tIns="0" rIns="0" bIns="0" rtlCol="0" anchor="t"/>
          <a:lstStyle/>
          <a:p>
            <a:pPr marL="0" indent="0" algn="l">
              <a:lnSpc>
                <a:spcPct val="104000"/>
              </a:lnSpc>
              <a:buNone/>
            </a:pPr>
            <a:r>
              <a:rPr lang="en-US" sz="2150" dirty="0">
                <a:solidFill>
                  <a:srgbClr val="F9D933"/>
                </a:solidFill>
                <a:latin typeface="Roboto Slab" pitchFamily="34" charset="0"/>
                <a:ea typeface="Roboto Slab" pitchFamily="34" charset="-122"/>
                <a:cs typeface="Roboto Slab" pitchFamily="34" charset="-120"/>
              </a:rPr>
              <a:t>Models Performance</a:t>
            </a:r>
            <a:endParaRPr lang="en-US" sz="2150" dirty="0"/>
          </a:p>
        </p:txBody>
      </p:sp>
      <p:pic>
        <p:nvPicPr>
          <p:cNvPr id="3" name="Image 0" descr="preencoded.png"/>
          <p:cNvPicPr>
            <a:picLocks noChangeAspect="1"/>
          </p:cNvPicPr>
          <p:nvPr/>
        </p:nvPicPr>
        <p:blipFill>
          <a:blip r:embed="rId3"/>
          <a:stretch>
            <a:fillRect/>
          </a:stretch>
        </p:blipFill>
        <p:spPr>
          <a:xfrm>
            <a:off x="661475" y="963414"/>
            <a:ext cx="7082454" cy="4931172"/>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661475" y="679450"/>
            <a:ext cx="10868745" cy="553740"/>
          </a:xfrm>
          <a:prstGeom prst="rect">
            <a:avLst/>
          </a:prstGeom>
          <a:noFill/>
          <a:ln/>
        </p:spPr>
        <p:txBody>
          <a:bodyPr wrap="none" lIns="0" tIns="0" rIns="0" bIns="0" rtlCol="0" anchor="t"/>
          <a:lstStyle/>
          <a:p>
            <a:pPr marL="0" indent="0" algn="l">
              <a:lnSpc>
                <a:spcPct val="104000"/>
              </a:lnSpc>
              <a:buNone/>
            </a:pPr>
            <a:r>
              <a:rPr lang="en-US" sz="3450" dirty="0">
                <a:solidFill>
                  <a:srgbClr val="F9D933"/>
                </a:solidFill>
                <a:latin typeface="Roboto Slab" pitchFamily="34" charset="0"/>
                <a:ea typeface="Roboto Slab" pitchFamily="34" charset="-122"/>
                <a:cs typeface="Roboto Slab" pitchFamily="34" charset="-120"/>
              </a:rPr>
              <a:t>Summary</a:t>
            </a:r>
            <a:endParaRPr lang="en-US" sz="3450" dirty="0"/>
          </a:p>
        </p:txBody>
      </p:sp>
      <p:sp>
        <p:nvSpPr>
          <p:cNvPr id="3" name="Text 1"/>
          <p:cNvSpPr/>
          <p:nvPr/>
        </p:nvSpPr>
        <p:spPr>
          <a:xfrm>
            <a:off x="661475" y="1482328"/>
            <a:ext cx="10868745" cy="1098550"/>
          </a:xfrm>
          <a:prstGeom prst="rect">
            <a:avLst/>
          </a:prstGeom>
          <a:noFill/>
          <a:ln/>
        </p:spPr>
        <p:txBody>
          <a:bodyPr wrap="square" lIns="0" tIns="0" rIns="0" bIns="0" rtlCol="0" anchor="t">
            <a:normAutofit/>
          </a:bodyPr>
          <a:lstStyle/>
          <a:p>
            <a:pPr marL="0" indent="0" algn="l">
              <a:lnSpc>
                <a:spcPct val="129000"/>
              </a:lnSpc>
              <a:buNone/>
            </a:pPr>
            <a:r>
              <a:rPr lang="en-US" sz="1350" dirty="0">
                <a:solidFill>
                  <a:srgbClr val="FBFCFE"/>
                </a:solidFill>
                <a:latin typeface="Roboto" pitchFamily="34" charset="0"/>
                <a:ea typeface="Roboto" pitchFamily="34" charset="-122"/>
                <a:cs typeface="Roboto" pitchFamily="34" charset="-120"/>
              </a:rPr>
              <a:t>The ROC curves confirm the trend seen in the classification metrics: Logistic Regression (0.949), Gradient Boosting (0.946), and AdaBoost (0.945) cluster tightly at the top, showing the strongest ability to separate failing from surviving startups across all thresholds. Random Forest and XGBoost follow closely (0.938 and 0.942), while Decision Tree and KNN lag noticeably — KNN's curve sits furthest from the top-left corner, confirming it as the weakest performer overall.</a:t>
            </a:r>
            <a:endParaRPr lang="en-US" sz="1350" dirty="0"/>
          </a:p>
        </p:txBody>
      </p:sp>
      <p:sp>
        <p:nvSpPr>
          <p:cNvPr id="4" name="Text 2"/>
          <p:cNvSpPr/>
          <p:nvPr/>
        </p:nvSpPr>
        <p:spPr>
          <a:xfrm>
            <a:off x="661475" y="2767707"/>
            <a:ext cx="10868745" cy="2487811"/>
          </a:xfrm>
          <a:prstGeom prst="rect">
            <a:avLst/>
          </a:prstGeom>
          <a:noFill/>
          <a:ln/>
        </p:spPr>
        <p:txBody>
          <a:bodyPr wrap="square" lIns="0" tIns="0" rIns="0" bIns="0" rtlCol="0" anchor="t">
            <a:normAutofit/>
          </a:bodyPr>
          <a:lstStyle/>
          <a:p>
            <a:pPr marL="274320" indent="-274320" algn="l">
              <a:lnSpc>
                <a:spcPct val="129000"/>
              </a:lnSpc>
              <a:buSzPct val="100000"/>
              <a:buChar char="•"/>
            </a:pPr>
            <a:r>
              <a:rPr lang="en-US" sz="1350" b="1" dirty="0">
                <a:solidFill>
                  <a:srgbClr val="FBFCFE"/>
                </a:solidFill>
                <a:latin typeface="Roboto Bold" pitchFamily="34" charset="0"/>
                <a:ea typeface="Roboto Bold" pitchFamily="34" charset="-122"/>
                <a:cs typeface="Roboto Bold" pitchFamily="34" charset="-120"/>
              </a:rPr>
              <a:t>EDA</a:t>
            </a:r>
            <a:r>
              <a:rPr lang="en-US" sz="1350" dirty="0">
                <a:solidFill>
                  <a:srgbClr val="FBFCFE"/>
                </a:solidFill>
                <a:latin typeface="Roboto" pitchFamily="34" charset="0"/>
                <a:ea typeface="Roboto" pitchFamily="34" charset="-122"/>
                <a:cs typeface="Roboto" pitchFamily="34" charset="-120"/>
              </a:rPr>
              <a:t> revealed important relationships between founder burnout, behavioral factors, and startup failure.</a:t>
            </a:r>
            <a:endParaRPr lang="en-US" sz="1350" dirty="0"/>
          </a:p>
          <a:p>
            <a:pPr marL="274320" indent="-274320" algn="l">
              <a:lnSpc>
                <a:spcPct val="129000"/>
              </a:lnSpc>
              <a:buSzPct val="100000"/>
              <a:buChar char="•"/>
            </a:pPr>
            <a:r>
              <a:rPr lang="en-US" sz="1350" b="1" dirty="0">
                <a:solidFill>
                  <a:srgbClr val="FBFCFE"/>
                </a:solidFill>
                <a:latin typeface="Roboto Bold" pitchFamily="34" charset="0"/>
                <a:ea typeface="Roboto Bold" pitchFamily="34" charset="-122"/>
                <a:cs typeface="Roboto Bold" pitchFamily="34" charset="-120"/>
              </a:rPr>
              <a:t>Preprocessing</a:t>
            </a:r>
            <a:r>
              <a:rPr lang="en-US" sz="1350" dirty="0">
                <a:solidFill>
                  <a:srgbClr val="FBFCFE"/>
                </a:solidFill>
                <a:latin typeface="Roboto" pitchFamily="34" charset="0"/>
                <a:ea typeface="Roboto" pitchFamily="34" charset="-122"/>
                <a:cs typeface="Roboto" pitchFamily="34" charset="-120"/>
              </a:rPr>
              <a:t> included leakage removal, log transformation, robust scaling, and </a:t>
            </a:r>
            <a:r>
              <a:rPr lang="en-US" sz="1350" b="1" dirty="0">
                <a:solidFill>
                  <a:srgbClr val="FBFCFE"/>
                </a:solidFill>
                <a:latin typeface="Roboto Bold" pitchFamily="34" charset="0"/>
                <a:ea typeface="Roboto Bold" pitchFamily="34" charset="-122"/>
                <a:cs typeface="Roboto Bold" pitchFamily="34" charset="-120"/>
              </a:rPr>
              <a:t>SMOTETomek</a:t>
            </a:r>
            <a:r>
              <a:rPr lang="en-US" sz="1350" dirty="0">
                <a:solidFill>
                  <a:srgbClr val="FBFCFE"/>
                </a:solidFill>
                <a:latin typeface="Roboto" pitchFamily="34" charset="0"/>
                <a:ea typeface="Roboto" pitchFamily="34" charset="-122"/>
                <a:cs typeface="Roboto" pitchFamily="34" charset="-120"/>
              </a:rPr>
              <a:t> to handle class imbalance.</a:t>
            </a:r>
            <a:endParaRPr lang="en-US" sz="1350" dirty="0"/>
          </a:p>
          <a:p>
            <a:pPr marL="274320" indent="-274320" algn="l">
              <a:lnSpc>
                <a:spcPct val="129000"/>
              </a:lnSpc>
              <a:buSzPct val="100000"/>
              <a:buChar char="•"/>
            </a:pPr>
            <a:r>
              <a:rPr lang="en-US" sz="1350" b="1" dirty="0">
                <a:solidFill>
                  <a:srgbClr val="FBFCFE"/>
                </a:solidFill>
                <a:latin typeface="Roboto Bold" pitchFamily="34" charset="0"/>
                <a:ea typeface="Roboto Bold" pitchFamily="34" charset="-122"/>
                <a:cs typeface="Roboto Bold" pitchFamily="34" charset="-120"/>
              </a:rPr>
              <a:t>8 ML models</a:t>
            </a:r>
            <a:r>
              <a:rPr lang="en-US" sz="1350" dirty="0">
                <a:solidFill>
                  <a:srgbClr val="FBFCFE"/>
                </a:solidFill>
                <a:latin typeface="Roboto" pitchFamily="34" charset="0"/>
                <a:ea typeface="Roboto" pitchFamily="34" charset="-122"/>
                <a:cs typeface="Roboto" pitchFamily="34" charset="-120"/>
              </a:rPr>
              <a:t> were trained and evaluated using Accuracy, Precision, Recall, F1-Score, and ROC-AUC.</a:t>
            </a:r>
            <a:endParaRPr lang="en-US" sz="1350" dirty="0"/>
          </a:p>
          <a:p>
            <a:pPr marL="274320" indent="-274320" algn="l">
              <a:lnSpc>
                <a:spcPct val="129000"/>
              </a:lnSpc>
              <a:buSzPct val="100000"/>
              <a:buChar char="•"/>
            </a:pPr>
            <a:r>
              <a:rPr lang="en-US" sz="1350" dirty="0">
                <a:solidFill>
                  <a:srgbClr val="FBFCFE"/>
                </a:solidFill>
                <a:latin typeface="Roboto" pitchFamily="34" charset="0"/>
                <a:ea typeface="Roboto" pitchFamily="34" charset="-122"/>
                <a:cs typeface="Roboto" pitchFamily="34" charset="-120"/>
              </a:rPr>
              <a:t>The experiments showed </a:t>
            </a:r>
            <a:r>
              <a:rPr lang="en-US" sz="1350" b="1" dirty="0">
                <a:solidFill>
                  <a:srgbClr val="FBFCFE"/>
                </a:solidFill>
                <a:latin typeface="Roboto Bold" pitchFamily="34" charset="0"/>
                <a:ea typeface="Roboto Bold" pitchFamily="34" charset="-122"/>
                <a:cs typeface="Roboto Bold" pitchFamily="34" charset="-120"/>
              </a:rPr>
              <a:t>strong overall predictive performance</a:t>
            </a:r>
            <a:r>
              <a:rPr lang="en-US" sz="1350" dirty="0">
                <a:solidFill>
                  <a:srgbClr val="FBFCFE"/>
                </a:solidFill>
                <a:latin typeface="Roboto" pitchFamily="34" charset="0"/>
                <a:ea typeface="Roboto" pitchFamily="34" charset="-122"/>
                <a:cs typeface="Roboto" pitchFamily="34" charset="-120"/>
              </a:rPr>
              <a:t>, with ensemble models and Logistic Regression performing particularly well.</a:t>
            </a:r>
            <a:endParaRPr lang="en-US" sz="1350" dirty="0"/>
          </a:p>
          <a:p>
            <a:pPr marL="274320" indent="-274320" algn="l">
              <a:lnSpc>
                <a:spcPct val="129000"/>
              </a:lnSpc>
              <a:buSzPct val="100000"/>
              <a:buChar char="•"/>
            </a:pPr>
            <a:r>
              <a:rPr lang="en-US" sz="1350" b="1" dirty="0">
                <a:solidFill>
                  <a:srgbClr val="FBFCFE"/>
                </a:solidFill>
                <a:latin typeface="Roboto Bold" pitchFamily="34" charset="0"/>
                <a:ea typeface="Roboto Bold" pitchFamily="34" charset="-122"/>
                <a:cs typeface="Roboto Bold" pitchFamily="34" charset="-120"/>
              </a:rPr>
              <a:t>Logistic Regression achieved the highest ROC-AUC (0.949)</a:t>
            </a:r>
            <a:r>
              <a:rPr lang="en-US" sz="1350" dirty="0">
                <a:solidFill>
                  <a:srgbClr val="FBFCFE"/>
                </a:solidFill>
                <a:latin typeface="Roboto" pitchFamily="34" charset="0"/>
                <a:ea typeface="Roboto" pitchFamily="34" charset="-122"/>
                <a:cs typeface="Roboto" pitchFamily="34" charset="-120"/>
              </a:rPr>
              <a:t>, while </a:t>
            </a:r>
            <a:r>
              <a:rPr lang="en-US" sz="1350" b="1" dirty="0">
                <a:solidFill>
                  <a:srgbClr val="FBFCFE"/>
                </a:solidFill>
                <a:latin typeface="Roboto Bold" pitchFamily="34" charset="0"/>
                <a:ea typeface="Roboto Bold" pitchFamily="34" charset="-122"/>
                <a:cs typeface="Roboto Bold" pitchFamily="34" charset="-120"/>
              </a:rPr>
              <a:t>AdaBoost achieved the highest F1-Score (0.766)</a:t>
            </a:r>
            <a:r>
              <a:rPr lang="en-US" sz="1350" dirty="0">
                <a:solidFill>
                  <a:srgbClr val="FBFCFE"/>
                </a:solidFill>
                <a:latin typeface="Roboto" pitchFamily="34" charset="0"/>
                <a:ea typeface="Roboto" pitchFamily="34" charset="-122"/>
                <a:cs typeface="Roboto" pitchFamily="34" charset="-120"/>
              </a:rPr>
              <a:t> in the SMOTETomek experiment.</a:t>
            </a:r>
            <a:endParaRPr lang="en-US" sz="1350" dirty="0"/>
          </a:p>
          <a:p>
            <a:pPr marL="274320" indent="-274320" algn="l">
              <a:lnSpc>
                <a:spcPct val="129000"/>
              </a:lnSpc>
              <a:buSzPct val="100000"/>
              <a:buChar char="•"/>
            </a:pPr>
            <a:r>
              <a:rPr lang="en-US" sz="1350" dirty="0">
                <a:solidFill>
                  <a:srgbClr val="FBFCFE"/>
                </a:solidFill>
                <a:latin typeface="Roboto" pitchFamily="34" charset="0"/>
                <a:ea typeface="Roboto" pitchFamily="34" charset="-122"/>
                <a:cs typeface="Roboto" pitchFamily="34" charset="-120"/>
              </a:rPr>
              <a:t>The results demonstrate that </a:t>
            </a:r>
            <a:r>
              <a:rPr lang="en-US" sz="1350" b="1" dirty="0">
                <a:solidFill>
                  <a:srgbClr val="FBFCFE"/>
                </a:solidFill>
                <a:latin typeface="Roboto Bold" pitchFamily="34" charset="0"/>
                <a:ea typeface="Roboto Bold" pitchFamily="34" charset="-122"/>
                <a:cs typeface="Roboto Bold" pitchFamily="34" charset="-120"/>
              </a:rPr>
              <a:t>startup failure risk can be effectively predicted using founder, behavioral, and startup-related features.</a:t>
            </a:r>
            <a:endParaRPr lang="en-US" sz="1350" dirty="0"/>
          </a:p>
        </p:txBody>
      </p:sp>
      <p:sp>
        <p:nvSpPr>
          <p:cNvPr id="5" name="Text 3"/>
          <p:cNvSpPr/>
          <p:nvPr/>
        </p:nvSpPr>
        <p:spPr>
          <a:xfrm>
            <a:off x="661475" y="5442347"/>
            <a:ext cx="10868745" cy="736104"/>
          </a:xfrm>
          <a:prstGeom prst="rect">
            <a:avLst/>
          </a:prstGeom>
          <a:noFill/>
          <a:ln/>
        </p:spPr>
        <p:txBody>
          <a:bodyPr wrap="square" lIns="0" tIns="0" rIns="0" bIns="0" rtlCol="0" anchor="t"/>
          <a:lstStyle/>
          <a:p>
            <a:pPr marL="0" indent="0" algn="l">
              <a:lnSpc>
                <a:spcPct val="129000"/>
              </a:lnSpc>
              <a:spcAft>
                <a:spcPts val="1450"/>
              </a:spcAft>
              <a:buNone/>
            </a:pPr>
            <a:endParaRPr lang="en-US" sz="13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661475" y="522982"/>
            <a:ext cx="10868745" cy="332184"/>
          </a:xfrm>
          <a:prstGeom prst="rect">
            <a:avLst/>
          </a:prstGeom>
          <a:noFill/>
          <a:ln/>
        </p:spPr>
        <p:txBody>
          <a:bodyPr wrap="none" lIns="0" tIns="0" rIns="0" bIns="0" rtlCol="0" anchor="t"/>
          <a:lstStyle/>
          <a:p>
            <a:pPr marL="0" indent="0" algn="l">
              <a:lnSpc>
                <a:spcPct val="104000"/>
              </a:lnSpc>
              <a:buNone/>
            </a:pPr>
            <a:r>
              <a:rPr lang="en-US" sz="2050" dirty="0">
                <a:solidFill>
                  <a:srgbClr val="F9D933"/>
                </a:solidFill>
                <a:latin typeface="Roboto Slab" pitchFamily="34" charset="0"/>
                <a:ea typeface="Roboto Slab" pitchFamily="34" charset="-122"/>
                <a:cs typeface="Roboto Slab" pitchFamily="34" charset="-120"/>
              </a:rPr>
              <a:t>Live Prediction Demo</a:t>
            </a:r>
            <a:endParaRPr lang="en-US" sz="2050" dirty="0"/>
          </a:p>
        </p:txBody>
      </p:sp>
      <p:pic>
        <p:nvPicPr>
          <p:cNvPr id="5" name="Picture 4">
            <a:extLst>
              <a:ext uri="{FF2B5EF4-FFF2-40B4-BE49-F238E27FC236}">
                <a16:creationId xmlns:a16="http://schemas.microsoft.com/office/drawing/2014/main" id="{486FD2B6-C889-7CF6-F1BB-FA9AA41EC72B}"/>
              </a:ext>
            </a:extLst>
          </p:cNvPr>
          <p:cNvPicPr>
            <a:picLocks noChangeAspect="1"/>
          </p:cNvPicPr>
          <p:nvPr/>
        </p:nvPicPr>
        <p:blipFill>
          <a:blip r:embed="rId3"/>
          <a:stretch>
            <a:fillRect/>
          </a:stretch>
        </p:blipFill>
        <p:spPr>
          <a:xfrm>
            <a:off x="455645" y="1026366"/>
            <a:ext cx="11280710" cy="5560595"/>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661475" y="2055217"/>
            <a:ext cx="10868745" cy="815181"/>
          </a:xfrm>
          <a:prstGeom prst="rect">
            <a:avLst/>
          </a:prstGeom>
          <a:noFill/>
          <a:ln/>
        </p:spPr>
        <p:txBody>
          <a:bodyPr wrap="none" lIns="0" tIns="0" rIns="0" bIns="0" rtlCol="0" anchor="t"/>
          <a:lstStyle/>
          <a:p>
            <a:pPr marL="0" indent="0" algn="l">
              <a:lnSpc>
                <a:spcPct val="104000"/>
              </a:lnSpc>
              <a:buNone/>
            </a:pPr>
            <a:r>
              <a:rPr lang="en-US" sz="5100" dirty="0">
                <a:solidFill>
                  <a:srgbClr val="F9D933"/>
                </a:solidFill>
                <a:latin typeface="Roboto Slab" pitchFamily="34" charset="0"/>
                <a:ea typeface="Roboto Slab" pitchFamily="34" charset="-122"/>
                <a:cs typeface="Roboto Slab" pitchFamily="34" charset="-120"/>
              </a:rPr>
              <a:t>Thank You !</a:t>
            </a:r>
            <a:endParaRPr lang="en-US" sz="5100" dirty="0"/>
          </a:p>
        </p:txBody>
      </p:sp>
      <p:sp>
        <p:nvSpPr>
          <p:cNvPr id="3" name="Text 1"/>
          <p:cNvSpPr/>
          <p:nvPr/>
        </p:nvSpPr>
        <p:spPr>
          <a:xfrm>
            <a:off x="661475" y="3153866"/>
            <a:ext cx="10868745" cy="472480"/>
          </a:xfrm>
          <a:prstGeom prst="rect">
            <a:avLst/>
          </a:prstGeom>
          <a:noFill/>
          <a:ln/>
        </p:spPr>
        <p:txBody>
          <a:bodyPr wrap="none" lIns="0" tIns="0" rIns="0" bIns="0" rtlCol="0" anchor="t"/>
          <a:lstStyle/>
          <a:p>
            <a:pPr marL="0" indent="0" algn="l">
              <a:lnSpc>
                <a:spcPct val="104000"/>
              </a:lnSpc>
              <a:buNone/>
            </a:pPr>
            <a:r>
              <a:rPr lang="en-US" sz="2950" dirty="0">
                <a:solidFill>
                  <a:srgbClr val="FBFCFE"/>
                </a:solidFill>
                <a:latin typeface="Roboto Slab" pitchFamily="34" charset="0"/>
                <a:ea typeface="Roboto Slab" pitchFamily="34" charset="-122"/>
                <a:cs typeface="Roboto Slab" pitchFamily="34" charset="-120"/>
              </a:rPr>
              <a:t>  Questions?</a:t>
            </a:r>
            <a:endParaRPr lang="en-US" sz="2950" dirty="0"/>
          </a:p>
        </p:txBody>
      </p:sp>
      <p:sp>
        <p:nvSpPr>
          <p:cNvPr id="4" name="Text 2"/>
          <p:cNvSpPr/>
          <p:nvPr/>
        </p:nvSpPr>
        <p:spPr>
          <a:xfrm>
            <a:off x="661475" y="4424859"/>
            <a:ext cx="11478330" cy="377924"/>
          </a:xfrm>
          <a:prstGeom prst="rect">
            <a:avLst/>
          </a:prstGeom>
          <a:noFill/>
          <a:ln/>
        </p:spPr>
        <p:txBody>
          <a:bodyPr wrap="none" lIns="0" tIns="0" rIns="0" bIns="0" rtlCol="0" anchor="t"/>
          <a:lstStyle/>
          <a:p>
            <a:pPr marL="0" indent="0" algn="l">
              <a:lnSpc>
                <a:spcPct val="133000"/>
              </a:lnSpc>
              <a:buNone/>
            </a:pPr>
            <a:r>
              <a:rPr lang="en-US" sz="1850" b="1" dirty="0">
                <a:solidFill>
                  <a:srgbClr val="5CC97B"/>
                </a:solidFill>
                <a:latin typeface="Roboto Bold" pitchFamily="34" charset="0"/>
                <a:ea typeface="Roboto Bold" pitchFamily="34" charset="-122"/>
                <a:cs typeface="Roboto Bold" pitchFamily="34" charset="-120"/>
              </a:rPr>
              <a:t>Predicting risk today, to support better decisions tomorrow.</a:t>
            </a:r>
            <a:endParaRPr lang="en-US" sz="1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281</TotalTime>
  <Words>1765</Words>
  <Application>Microsoft Office PowerPoint</Application>
  <PresentationFormat>Widescreen</PresentationFormat>
  <Paragraphs>148</Paragraphs>
  <Slides>29</Slides>
  <Notes>29</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29</vt:i4>
      </vt:variant>
    </vt:vector>
  </HeadingPairs>
  <TitlesOfParts>
    <vt:vector size="35" baseType="lpstr">
      <vt:lpstr>Roboto Slab</vt:lpstr>
      <vt:lpstr>Arial</vt:lpstr>
      <vt:lpstr>Roboto Bold</vt:lpstr>
      <vt:lpstr>Roboto Slab Bold</vt:lpstr>
      <vt:lpstr>Roboto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Ahmed Hossam</dc:creator>
  <cp:lastModifiedBy>احمد حسام ابراهيم حامد مطر</cp:lastModifiedBy>
  <cp:revision>7</cp:revision>
  <dcterms:created xsi:type="dcterms:W3CDTF">2026-09-09T23:34:24Z</dcterms:created>
  <dcterms:modified xsi:type="dcterms:W3CDTF">2026-09-10T16:34:59Z</dcterms:modified>
</cp:coreProperties>
</file>